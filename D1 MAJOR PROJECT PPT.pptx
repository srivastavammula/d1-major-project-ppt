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50" r:id="rId1"/>
  </p:sldMasterIdLst>
  <p:notesMasterIdLst>
    <p:notesMasterId r:id="rId45"/>
  </p:notesMasterIdLst>
  <p:sldIdLst>
    <p:sldId id="779" r:id="rId2"/>
    <p:sldId id="789" r:id="rId3"/>
    <p:sldId id="780" r:id="rId4"/>
    <p:sldId id="842" r:id="rId5"/>
    <p:sldId id="844" r:id="rId6"/>
    <p:sldId id="846" r:id="rId7"/>
    <p:sldId id="794" r:id="rId8"/>
    <p:sldId id="796" r:id="rId9"/>
    <p:sldId id="797" r:id="rId10"/>
    <p:sldId id="798" r:id="rId11"/>
    <p:sldId id="799" r:id="rId12"/>
    <p:sldId id="800" r:id="rId13"/>
    <p:sldId id="835" r:id="rId14"/>
    <p:sldId id="804" r:id="rId15"/>
    <p:sldId id="812" r:id="rId16"/>
    <p:sldId id="813" r:id="rId17"/>
    <p:sldId id="814" r:id="rId18"/>
    <p:sldId id="815" r:id="rId19"/>
    <p:sldId id="816" r:id="rId20"/>
    <p:sldId id="817" r:id="rId21"/>
    <p:sldId id="818" r:id="rId22"/>
    <p:sldId id="819" r:id="rId23"/>
    <p:sldId id="820" r:id="rId24"/>
    <p:sldId id="821" r:id="rId25"/>
    <p:sldId id="822" r:id="rId26"/>
    <p:sldId id="826" r:id="rId27"/>
    <p:sldId id="834" r:id="rId28"/>
    <p:sldId id="827" r:id="rId29"/>
    <p:sldId id="828" r:id="rId30"/>
    <p:sldId id="829" r:id="rId31"/>
    <p:sldId id="830" r:id="rId32"/>
    <p:sldId id="831" r:id="rId33"/>
    <p:sldId id="832" r:id="rId34"/>
    <p:sldId id="833" r:id="rId35"/>
    <p:sldId id="824" r:id="rId36"/>
    <p:sldId id="825" r:id="rId37"/>
    <p:sldId id="840" r:id="rId38"/>
    <p:sldId id="836" r:id="rId39"/>
    <p:sldId id="837" r:id="rId40"/>
    <p:sldId id="839" r:id="rId41"/>
    <p:sldId id="811" r:id="rId42"/>
    <p:sldId id="793" r:id="rId43"/>
    <p:sldId id="788"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4660"/>
  </p:normalViewPr>
  <p:slideViewPr>
    <p:cSldViewPr snapToGrid="0">
      <p:cViewPr varScale="1">
        <p:scale>
          <a:sx n="72" d="100"/>
          <a:sy n="72" d="100"/>
        </p:scale>
        <p:origin x="654"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4F1D50-B6A2-4019-9617-B0BA6E91FF9B}" type="datetimeFigureOut">
              <a:rPr lang="en-IN" smtClean="0"/>
              <a:t>06-03-2024</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760D06-E71C-4CF6-B4AC-B8B6AF0BE466}" type="slidenum">
              <a:rPr lang="en-IN" smtClean="0"/>
              <a:t>‹#›</a:t>
            </a:fld>
            <a:endParaRPr lang="en-IN" dirty="0"/>
          </a:p>
        </p:txBody>
      </p:sp>
    </p:spTree>
    <p:extLst>
      <p:ext uri="{BB962C8B-B14F-4D97-AF65-F5344CB8AC3E}">
        <p14:creationId xmlns:p14="http://schemas.microsoft.com/office/powerpoint/2010/main" val="3424038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7BC200F-3AD5-488B-A90C-E22EC162B81D}" type="datetime1">
              <a:rPr lang="en-IN" smtClean="0"/>
              <a:t>06-03-2024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0183BA4-7B10-4BE3-A0B2-A48721054ED6}" type="slidenum">
              <a:rPr lang="en-IN" smtClean="0"/>
              <a:t>‹#›</a:t>
            </a:fld>
            <a:endParaRPr lang="en-IN" dirty="0"/>
          </a:p>
        </p:txBody>
      </p:sp>
    </p:spTree>
    <p:extLst>
      <p:ext uri="{BB962C8B-B14F-4D97-AF65-F5344CB8AC3E}">
        <p14:creationId xmlns:p14="http://schemas.microsoft.com/office/powerpoint/2010/main" val="2740809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0183BA4-7B10-4BE3-A0B2-A48721054ED6}" type="slidenum">
              <a:rPr lang="en-IN" smtClean="0"/>
              <a:t>‹#›</a:t>
            </a:fld>
            <a:endParaRPr lang="en-IN" dirty="0"/>
          </a:p>
        </p:txBody>
      </p:sp>
    </p:spTree>
    <p:extLst>
      <p:ext uri="{BB962C8B-B14F-4D97-AF65-F5344CB8AC3E}">
        <p14:creationId xmlns:p14="http://schemas.microsoft.com/office/powerpoint/2010/main" val="1218142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42B590-2B55-4604-B193-5B6D0EBB3818}" type="datetime1">
              <a:rPr lang="en-IN" smtClean="0"/>
              <a:t>06-03-2024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0183BA4-7B10-4BE3-A0B2-A48721054ED6}" type="slidenum">
              <a:rPr lang="en-IN" smtClean="0"/>
              <a:t>‹#›</a:t>
            </a:fld>
            <a:endParaRPr lang="en-IN" dirty="0"/>
          </a:p>
        </p:txBody>
      </p:sp>
    </p:spTree>
    <p:extLst>
      <p:ext uri="{BB962C8B-B14F-4D97-AF65-F5344CB8AC3E}">
        <p14:creationId xmlns:p14="http://schemas.microsoft.com/office/powerpoint/2010/main" val="799255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55046D-FD36-421D-B0B6-CF2E6F2F7E01}" type="datetime1">
              <a:rPr lang="en-IN" smtClean="0"/>
              <a:t>06-03-2024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0183BA4-7B10-4BE3-A0B2-A48721054ED6}" type="slidenum">
              <a:rPr lang="en-IN" smtClean="0"/>
              <a:t>‹#›</a:t>
            </a:fld>
            <a:endParaRPr lang="en-IN" dirty="0"/>
          </a:p>
        </p:txBody>
      </p:sp>
    </p:spTree>
    <p:extLst>
      <p:ext uri="{BB962C8B-B14F-4D97-AF65-F5344CB8AC3E}">
        <p14:creationId xmlns:p14="http://schemas.microsoft.com/office/powerpoint/2010/main" val="531640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719C6A-C228-4666-85AF-BFCAEE8D9375}" type="datetime1">
              <a:rPr lang="en-IN" smtClean="0"/>
              <a:t>06-03-2024</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0183BA4-7B10-4BE3-A0B2-A48721054ED6}" type="slidenum">
              <a:rPr lang="en-IN" smtClean="0"/>
              <a:t>‹#›</a:t>
            </a:fld>
            <a:endParaRPr lang="en-IN" dirty="0"/>
          </a:p>
        </p:txBody>
      </p:sp>
    </p:spTree>
    <p:extLst>
      <p:ext uri="{BB962C8B-B14F-4D97-AF65-F5344CB8AC3E}">
        <p14:creationId xmlns:p14="http://schemas.microsoft.com/office/powerpoint/2010/main" val="2008877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1476AC4-8DFC-4A25-AB02-3BCD901770ED}" type="datetime1">
              <a:rPr lang="en-IN" smtClean="0"/>
              <a:t>06-03-2024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0183BA4-7B10-4BE3-A0B2-A48721054ED6}" type="slidenum">
              <a:rPr lang="en-IN" smtClean="0"/>
              <a:t>‹#›</a:t>
            </a:fld>
            <a:endParaRPr lang="en-IN" dirty="0"/>
          </a:p>
        </p:txBody>
      </p:sp>
    </p:spTree>
    <p:extLst>
      <p:ext uri="{BB962C8B-B14F-4D97-AF65-F5344CB8AC3E}">
        <p14:creationId xmlns:p14="http://schemas.microsoft.com/office/powerpoint/2010/main" val="1111617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8A7FA7-F693-4DFB-AEDA-FE633EEC95AF}" type="datetime1">
              <a:rPr lang="en-IN" smtClean="0"/>
              <a:t>06-03-2024</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0183BA4-7B10-4BE3-A0B2-A48721054ED6}" type="slidenum">
              <a:rPr lang="en-IN" smtClean="0"/>
              <a:t>‹#›</a:t>
            </a:fld>
            <a:endParaRPr lang="en-IN" dirty="0"/>
          </a:p>
        </p:txBody>
      </p:sp>
    </p:spTree>
    <p:extLst>
      <p:ext uri="{BB962C8B-B14F-4D97-AF65-F5344CB8AC3E}">
        <p14:creationId xmlns:p14="http://schemas.microsoft.com/office/powerpoint/2010/main" val="2345244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C56386-F633-4E6A-B8A1-EED31EF84510}" type="datetime1">
              <a:rPr lang="en-IN" smtClean="0"/>
              <a:t>06-03-2024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0183BA4-7B10-4BE3-A0B2-A48721054ED6}" type="slidenum">
              <a:rPr lang="en-IN" smtClean="0"/>
              <a:t>‹#›</a:t>
            </a:fld>
            <a:endParaRPr lang="en-IN" dirty="0"/>
          </a:p>
        </p:txBody>
      </p:sp>
    </p:spTree>
    <p:extLst>
      <p:ext uri="{BB962C8B-B14F-4D97-AF65-F5344CB8AC3E}">
        <p14:creationId xmlns:p14="http://schemas.microsoft.com/office/powerpoint/2010/main" val="1793963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C880F4-BE75-409D-AF89-489FEC0B9E5F}" type="datetime1">
              <a:rPr lang="en-IN" smtClean="0"/>
              <a:t>06-03-2024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0183BA4-7B10-4BE3-A0B2-A48721054ED6}" type="slidenum">
              <a:rPr lang="en-IN" smtClean="0"/>
              <a:t>‹#›</a:t>
            </a:fld>
            <a:endParaRPr lang="en-IN" dirty="0"/>
          </a:p>
        </p:txBody>
      </p:sp>
    </p:spTree>
    <p:extLst>
      <p:ext uri="{BB962C8B-B14F-4D97-AF65-F5344CB8AC3E}">
        <p14:creationId xmlns:p14="http://schemas.microsoft.com/office/powerpoint/2010/main" val="1227115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D12017-EE5D-4064-B320-4434A6A5A13F}" type="datetime1">
              <a:rPr lang="en-IN" smtClean="0"/>
              <a:t>06-03-2024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0183BA4-7B10-4BE3-A0B2-A48721054ED6}" type="slidenum">
              <a:rPr lang="en-IN" smtClean="0"/>
              <a:t>‹#›</a:t>
            </a:fld>
            <a:endParaRPr lang="en-IN" dirty="0"/>
          </a:p>
        </p:txBody>
      </p:sp>
    </p:spTree>
    <p:extLst>
      <p:ext uri="{BB962C8B-B14F-4D97-AF65-F5344CB8AC3E}">
        <p14:creationId xmlns:p14="http://schemas.microsoft.com/office/powerpoint/2010/main" val="6477373"/>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D12017-EE5D-4064-B320-4434A6A5A13F}" type="datetime1">
              <a:rPr lang="en-IN" smtClean="0"/>
              <a:t>06-03-2024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0183BA4-7B10-4BE3-A0B2-A48721054ED6}" type="slidenum">
              <a:rPr lang="en-IN" smtClean="0"/>
              <a:t>‹#›</a:t>
            </a:fld>
            <a:endParaRPr lang="en-IN"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297794963"/>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D12017-EE5D-4064-B320-4434A6A5A13F}" type="datetime1">
              <a:rPr lang="en-IN" smtClean="0"/>
              <a:t>06-03-2024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0183BA4-7B10-4BE3-A0B2-A48721054ED6}" type="slidenum">
              <a:rPr lang="en-IN" smtClean="0"/>
              <a:t>‹#›</a:t>
            </a:fld>
            <a:endParaRPr lang="en-IN" dirty="0"/>
          </a:p>
        </p:txBody>
      </p:sp>
    </p:spTree>
    <p:extLst>
      <p:ext uri="{BB962C8B-B14F-4D97-AF65-F5344CB8AC3E}">
        <p14:creationId xmlns:p14="http://schemas.microsoft.com/office/powerpoint/2010/main" val="3761774552"/>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D12017-EE5D-4064-B320-4434A6A5A13F}" type="datetime1">
              <a:rPr lang="en-IN" smtClean="0"/>
              <a:t>06-03-2024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0183BA4-7B10-4BE3-A0B2-A48721054ED6}"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54381216"/>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D12017-EE5D-4064-B320-4434A6A5A13F}" type="datetime1">
              <a:rPr lang="en-IN" smtClean="0"/>
              <a:t>06-03-2024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0183BA4-7B10-4BE3-A0B2-A48721054ED6}" type="slidenum">
              <a:rPr lang="en-IN" smtClean="0"/>
              <a:t>‹#›</a:t>
            </a:fld>
            <a:endParaRPr lang="en-IN" dirty="0"/>
          </a:p>
        </p:txBody>
      </p:sp>
    </p:spTree>
    <p:extLst>
      <p:ext uri="{BB962C8B-B14F-4D97-AF65-F5344CB8AC3E}">
        <p14:creationId xmlns:p14="http://schemas.microsoft.com/office/powerpoint/2010/main" val="1432523154"/>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39F6F4-037B-4332-9282-471FE71B5F7F}" type="datetime1">
              <a:rPr lang="en-IN" smtClean="0"/>
              <a:t>06-03-2024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0183BA4-7B10-4BE3-A0B2-A48721054ED6}" type="slidenum">
              <a:rPr lang="en-IN" smtClean="0"/>
              <a:t>‹#›</a:t>
            </a:fld>
            <a:endParaRPr lang="en-IN" dirty="0"/>
          </a:p>
        </p:txBody>
      </p:sp>
    </p:spTree>
    <p:extLst>
      <p:ext uri="{BB962C8B-B14F-4D97-AF65-F5344CB8AC3E}">
        <p14:creationId xmlns:p14="http://schemas.microsoft.com/office/powerpoint/2010/main" val="31256365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DABC32-C334-4B49-A727-D2C2C2E2FFFE}" type="datetime1">
              <a:rPr lang="en-IN" smtClean="0"/>
              <a:t>06-03-2024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0183BA4-7B10-4BE3-A0B2-A48721054ED6}" type="slidenum">
              <a:rPr lang="en-IN" smtClean="0"/>
              <a:t>‹#›</a:t>
            </a:fld>
            <a:endParaRPr lang="en-IN" dirty="0"/>
          </a:p>
        </p:txBody>
      </p:sp>
    </p:spTree>
    <p:extLst>
      <p:ext uri="{BB962C8B-B14F-4D97-AF65-F5344CB8AC3E}">
        <p14:creationId xmlns:p14="http://schemas.microsoft.com/office/powerpoint/2010/main" val="624384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DD12017-EE5D-4064-B320-4434A6A5A13F}" type="datetime1">
              <a:rPr lang="en-IN" smtClean="0"/>
              <a:t>06-03-2024</a:t>
            </a:fld>
            <a:endParaRPr lang="en-IN"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0183BA4-7B10-4BE3-A0B2-A48721054ED6}" type="slidenum">
              <a:rPr lang="en-IN" smtClean="0"/>
              <a:t>‹#›</a:t>
            </a:fld>
            <a:endParaRPr lang="en-IN" dirty="0"/>
          </a:p>
        </p:txBody>
      </p:sp>
    </p:spTree>
    <p:extLst>
      <p:ext uri="{BB962C8B-B14F-4D97-AF65-F5344CB8AC3E}">
        <p14:creationId xmlns:p14="http://schemas.microsoft.com/office/powerpoint/2010/main" val="2678356822"/>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 id="2147483862" r:id="rId12"/>
    <p:sldLayoutId id="2147483863" r:id="rId13"/>
    <p:sldLayoutId id="2147483864" r:id="rId14"/>
    <p:sldLayoutId id="2147483865" r:id="rId15"/>
    <p:sldLayoutId id="2147483866" r:id="rId16"/>
  </p:sldLayoutIdLst>
  <p:hf hdr="0" ft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image2.jpg"/>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74300" y="94410"/>
            <a:ext cx="1767839" cy="148502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2220916" y="94410"/>
            <a:ext cx="8053384" cy="1420902"/>
          </a:xfrm>
          <a:prstGeom prst="rect">
            <a:avLst/>
          </a:prstGeom>
          <a:noFill/>
        </p:spPr>
        <p:txBody>
          <a:bodyPr wrap="square">
            <a:spAutoFit/>
          </a:bodyPr>
          <a:lstStyle/>
          <a:p>
            <a:pPr marR="16510" algn="ctr">
              <a:spcBef>
                <a:spcPts val="365"/>
              </a:spcBef>
              <a:spcAft>
                <a:spcPts val="250"/>
              </a:spcAft>
            </a:pPr>
            <a:r>
              <a:rPr lang="en-IN" sz="2800" b="1" dirty="0">
                <a:effectLst/>
                <a:latin typeface="Times New Roman" panose="02020603050405020304" pitchFamily="18" charset="0"/>
                <a:ea typeface="Times New Roman" panose="02020603050405020304" pitchFamily="18" charset="0"/>
                <a:cs typeface="Times New Roman" panose="02020603050405020304" pitchFamily="18" charset="0"/>
              </a:rPr>
              <a:t>   St. MARTIN’S ENGINEERING COLLEGE</a:t>
            </a:r>
            <a:endParaRPr lang="en-IN"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r>
              <a:rPr lang="en-US" sz="1600" b="1" dirty="0">
                <a:latin typeface="Times New Roman" panose="02020603050405020304" pitchFamily="18" charset="0"/>
                <a:cs typeface="Times New Roman" panose="02020603050405020304" pitchFamily="18" charset="0"/>
              </a:rPr>
              <a:t>UGC Autonomous</a:t>
            </a:r>
          </a:p>
          <a:p>
            <a:pPr marL="1143000" marR="1085850" indent="-2540" algn="ctr">
              <a:spcBef>
                <a:spcPts val="240"/>
              </a:spcBef>
              <a:spcAft>
                <a:spcPts val="250"/>
              </a:spcAft>
            </a:pPr>
            <a:r>
              <a:rPr lang="en-IN" sz="1600" b="1" dirty="0">
                <a:latin typeface="Times New Roman" panose="02020603050405020304" pitchFamily="18" charset="0"/>
                <a:ea typeface="Times New Roman" panose="02020603050405020304" pitchFamily="18" charset="0"/>
                <a:cs typeface="Mangal" panose="02040503050203030202" pitchFamily="18" charset="0"/>
              </a:rPr>
              <a:t>NBA &amp; NAAC A+ ACCREDITED</a:t>
            </a:r>
            <a:endParaRPr lang="en-IN" sz="1600" b="1" dirty="0">
              <a:latin typeface="Calibri" panose="020F0502020204030204" pitchFamily="34" charset="0"/>
              <a:ea typeface="Calibri" panose="020F0502020204030204" pitchFamily="34" charset="0"/>
              <a:cs typeface="Mangal" panose="02040503050203030202" pitchFamily="18" charset="0"/>
            </a:endParaRPr>
          </a:p>
          <a:p>
            <a:pPr marL="1143000" marR="1085850" indent="-2540" algn="ctr">
              <a:spcBef>
                <a:spcPts val="240"/>
              </a:spcBef>
              <a:spcAft>
                <a:spcPts val="25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Dhulapally, Secunderabad– 500100 </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Subtitle 2"/>
          <p:cNvSpPr txBox="1"/>
          <p:nvPr/>
        </p:nvSpPr>
        <p:spPr>
          <a:xfrm>
            <a:off x="-1" y="2190941"/>
            <a:ext cx="12192000" cy="11005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b="1" dirty="0">
                <a:latin typeface="Times New Roman" panose="02020603050405020304" pitchFamily="18" charset="0"/>
                <a:cs typeface="Times New Roman" panose="02020603050405020304" pitchFamily="18" charset="0"/>
              </a:rPr>
              <a:t>DEEP LEARNING FOR INDIAN CURRENCY CLASSIFICATION AND FAKE CURRENCY DETECTION</a:t>
            </a:r>
          </a:p>
        </p:txBody>
      </p:sp>
      <p:sp>
        <p:nvSpPr>
          <p:cNvPr id="15" name="TextBox 14"/>
          <p:cNvSpPr txBox="1"/>
          <p:nvPr/>
        </p:nvSpPr>
        <p:spPr>
          <a:xfrm>
            <a:off x="995680" y="3291442"/>
            <a:ext cx="9865360" cy="1938992"/>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Batch No: D1 </a:t>
            </a:r>
          </a:p>
          <a:p>
            <a:pPr algn="ctr"/>
            <a:r>
              <a:rPr lang="en-US" sz="2400" b="1" dirty="0">
                <a:latin typeface="Times New Roman" panose="02020603050405020304" pitchFamily="18" charset="0"/>
                <a:cs typeface="Times New Roman" panose="02020603050405020304" pitchFamily="18" charset="0"/>
              </a:rPr>
              <a:t>	1.K. SUSHMITHA	(19K81A04K8)</a:t>
            </a:r>
          </a:p>
          <a:p>
            <a:pPr algn="ctr"/>
            <a:r>
              <a:rPr lang="en-US" sz="2400" b="1" dirty="0">
                <a:latin typeface="Times New Roman" panose="02020603050405020304" pitchFamily="18" charset="0"/>
                <a:cs typeface="Times New Roman" panose="02020603050405020304" pitchFamily="18" charset="0"/>
              </a:rPr>
              <a:t>	2.K. MOUNIKA		(19K81A04K5)</a:t>
            </a:r>
          </a:p>
          <a:p>
            <a:pPr algn="ctr"/>
            <a:r>
              <a:rPr lang="en-US" sz="2400" b="1" dirty="0">
                <a:latin typeface="Times New Roman" panose="02020603050405020304" pitchFamily="18" charset="0"/>
                <a:cs typeface="Times New Roman" panose="02020603050405020304" pitchFamily="18" charset="0"/>
              </a:rPr>
              <a:t>	3.A. S</a:t>
            </a:r>
            <a:r>
              <a:rPr lang="en-IN" altLang="en-US" sz="2400" b="1" dirty="0">
                <a:latin typeface="Times New Roman" panose="02020603050405020304" pitchFamily="18" charset="0"/>
                <a:cs typeface="Times New Roman" panose="02020603050405020304" pitchFamily="18" charset="0"/>
              </a:rPr>
              <a:t>RI</a:t>
            </a:r>
            <a:r>
              <a:rPr lang="en-US" sz="2400" b="1" dirty="0">
                <a:latin typeface="Times New Roman" panose="02020603050405020304" pitchFamily="18" charset="0"/>
                <a:cs typeface="Times New Roman" panose="02020603050405020304" pitchFamily="18" charset="0"/>
              </a:rPr>
              <a:t>VASTAV		(18K81A0464) </a:t>
            </a:r>
          </a:p>
          <a:p>
            <a:pPr algn="ctr"/>
            <a:r>
              <a:rPr lang="en-US" sz="2400" b="1" dirty="0">
                <a:latin typeface="Times New Roman" panose="02020603050405020304" pitchFamily="18" charset="0"/>
                <a:cs typeface="Times New Roman" panose="02020603050405020304" pitchFamily="18" charset="0"/>
              </a:rPr>
              <a:t>	4.K. HARISH			(19K81A04L0)</a:t>
            </a:r>
          </a:p>
        </p:txBody>
      </p:sp>
      <p:sp>
        <p:nvSpPr>
          <p:cNvPr id="16" name="TextBox 15"/>
          <p:cNvSpPr txBox="1"/>
          <p:nvPr/>
        </p:nvSpPr>
        <p:spPr>
          <a:xfrm>
            <a:off x="0" y="5288340"/>
            <a:ext cx="12191999" cy="1569660"/>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Under the Guidance of</a:t>
            </a:r>
          </a:p>
          <a:p>
            <a:pPr algn="ctr"/>
            <a:r>
              <a:rPr lang="en-US" sz="2400" b="1" dirty="0">
                <a:latin typeface="Times New Roman" panose="02020603050405020304" pitchFamily="18" charset="0"/>
                <a:cs typeface="Times New Roman" panose="02020603050405020304" pitchFamily="18" charset="0"/>
              </a:rPr>
              <a:t>Mr. K. BALASUBRAMANYAM</a:t>
            </a:r>
          </a:p>
          <a:p>
            <a:pPr algn="ctr"/>
            <a:r>
              <a:rPr lang="en-US" sz="2400" b="1" dirty="0">
                <a:latin typeface="Times New Roman" panose="02020603050405020304" pitchFamily="18" charset="0"/>
                <a:cs typeface="Times New Roman" panose="02020603050405020304" pitchFamily="18" charset="0"/>
              </a:rPr>
              <a:t>Assistant Professor</a:t>
            </a:r>
          </a:p>
          <a:p>
            <a:pPr algn="ctr"/>
            <a:r>
              <a:rPr lang="en-US" sz="2400" b="1" dirty="0">
                <a:latin typeface="Times New Roman" panose="02020603050405020304" pitchFamily="18" charset="0"/>
                <a:cs typeface="Times New Roman" panose="02020603050405020304" pitchFamily="18" charset="0"/>
              </a:rPr>
              <a:t>Department of ECE</a:t>
            </a:r>
            <a:endParaRPr lang="en-IN" sz="2400" b="1"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269034" y="184801"/>
            <a:ext cx="1460912" cy="1240120"/>
          </a:xfrm>
          <a:prstGeom prst="rect">
            <a:avLst/>
          </a:prstGeom>
          <a:noFill/>
        </p:spPr>
      </p:pic>
      <p:sp>
        <p:nvSpPr>
          <p:cNvPr id="2" name="TextBox 1"/>
          <p:cNvSpPr txBox="1"/>
          <p:nvPr/>
        </p:nvSpPr>
        <p:spPr>
          <a:xfrm>
            <a:off x="1" y="1579432"/>
            <a:ext cx="12191998"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    Department of  Electronics and Communication Engineering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OUTLINE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30200" y="1203648"/>
            <a:ext cx="11569700" cy="5032051"/>
          </a:xfrm>
        </p:spPr>
        <p:txBody>
          <a:bodyPr>
            <a:normAutofit fontScale="70000" lnSpcReduction="20000"/>
          </a:bodyPr>
          <a:lstStyle/>
          <a:p>
            <a:pPr marL="457200" indent="-457200" algn="just">
              <a:lnSpc>
                <a:spcPct val="150000"/>
              </a:lnSpc>
              <a:spcBef>
                <a:spcPts val="415"/>
              </a:spcBef>
              <a:buSzPct val="80000"/>
              <a:buFont typeface="+mj-lt"/>
              <a:buAutoNum type="arabicPeriod"/>
              <a:tabLst>
                <a:tab pos="367030" algn="l"/>
              </a:tabLst>
            </a:pPr>
            <a:r>
              <a:rPr lang="en-IN" sz="2400" dirty="0">
                <a:latin typeface="Times New Roman" panose="02020603050405020304" pitchFamily="18" charset="0"/>
                <a:ea typeface="Times New Roman" panose="02020603050405020304" pitchFamily="18" charset="0"/>
              </a:rPr>
              <a:t>Abstract</a:t>
            </a:r>
          </a:p>
          <a:p>
            <a:pPr marL="457200" indent="-457200" algn="just">
              <a:lnSpc>
                <a:spcPct val="150000"/>
              </a:lnSpc>
              <a:spcBef>
                <a:spcPts val="415"/>
              </a:spcBef>
              <a:buSzPct val="80000"/>
              <a:buFont typeface="+mj-lt"/>
              <a:buAutoNum type="arabicPeriod"/>
              <a:tabLst>
                <a:tab pos="367030" algn="l"/>
              </a:tabLst>
            </a:pPr>
            <a:r>
              <a:rPr lang="en-US" sz="2400" dirty="0">
                <a:latin typeface="Times New Roman" panose="02020603050405020304" pitchFamily="18" charset="0"/>
                <a:ea typeface="Times New Roman" panose="02020603050405020304" pitchFamily="18" charset="0"/>
              </a:rPr>
              <a:t>Introduction</a:t>
            </a:r>
          </a:p>
          <a:p>
            <a:pPr marL="457200" indent="-457200" algn="just">
              <a:lnSpc>
                <a:spcPct val="150000"/>
              </a:lnSpc>
              <a:spcBef>
                <a:spcPts val="415"/>
              </a:spcBef>
              <a:buSzPct val="80000"/>
              <a:buFont typeface="+mj-lt"/>
              <a:buAutoNum type="arabicPeriod"/>
              <a:tabLst>
                <a:tab pos="367030" algn="l"/>
              </a:tabLst>
            </a:pPr>
            <a:r>
              <a:rPr lang="en-US" sz="2400" dirty="0">
                <a:latin typeface="Times New Roman" panose="02020603050405020304" pitchFamily="18" charset="0"/>
                <a:ea typeface="Times New Roman" panose="02020603050405020304" pitchFamily="18" charset="0"/>
              </a:rPr>
              <a:t>Literature Survey</a:t>
            </a:r>
          </a:p>
          <a:p>
            <a:pPr marL="457200" indent="-457200" algn="just">
              <a:lnSpc>
                <a:spcPct val="150000"/>
              </a:lnSpc>
              <a:spcBef>
                <a:spcPts val="415"/>
              </a:spcBef>
              <a:buSzPct val="80000"/>
              <a:buFont typeface="+mj-lt"/>
              <a:buAutoNum type="arabicPeriod"/>
              <a:tabLst>
                <a:tab pos="367030" algn="l"/>
              </a:tabLst>
            </a:pPr>
            <a:r>
              <a:rPr lang="en-US" sz="2400" dirty="0">
                <a:latin typeface="Times New Roman" panose="02020603050405020304" pitchFamily="18" charset="0"/>
                <a:ea typeface="Times New Roman" panose="02020603050405020304" pitchFamily="18" charset="0"/>
              </a:rPr>
              <a:t>Existing System</a:t>
            </a:r>
            <a:endParaRPr lang="en-IN" sz="2400" dirty="0">
              <a:latin typeface="Times New Roman" panose="02020603050405020304" pitchFamily="18" charset="0"/>
              <a:ea typeface="Times New Roman" panose="02020603050405020304" pitchFamily="18" charset="0"/>
            </a:endParaRPr>
          </a:p>
          <a:p>
            <a:pPr marL="457200" indent="-457200" algn="just">
              <a:lnSpc>
                <a:spcPct val="150000"/>
              </a:lnSpc>
              <a:spcBef>
                <a:spcPts val="415"/>
              </a:spcBef>
              <a:buSzPct val="80000"/>
              <a:buFont typeface="+mj-lt"/>
              <a:buAutoNum type="arabicPeriod"/>
              <a:tabLst>
                <a:tab pos="367030" algn="l"/>
              </a:tabLst>
            </a:pPr>
            <a:r>
              <a:rPr lang="en-IN" sz="2400" dirty="0">
                <a:latin typeface="Times New Roman" panose="02020603050405020304" pitchFamily="18" charset="0"/>
                <a:ea typeface="Times New Roman" panose="02020603050405020304" pitchFamily="18" charset="0"/>
              </a:rPr>
              <a:t>Detailed Design</a:t>
            </a:r>
          </a:p>
          <a:p>
            <a:pPr marL="457200" indent="-457200" algn="just">
              <a:lnSpc>
                <a:spcPct val="150000"/>
              </a:lnSpc>
              <a:spcBef>
                <a:spcPts val="415"/>
              </a:spcBef>
              <a:buSzPct val="80000"/>
              <a:buFont typeface="+mj-lt"/>
              <a:buAutoNum type="arabicPeriod"/>
              <a:tabLst>
                <a:tab pos="367030" algn="l"/>
              </a:tabLst>
            </a:pPr>
            <a:r>
              <a:rPr lang="en-US" sz="2400" dirty="0">
                <a:latin typeface="Times New Roman" panose="02020603050405020304" pitchFamily="18" charset="0"/>
                <a:ea typeface="Times New Roman" panose="02020603050405020304" pitchFamily="18" charset="0"/>
              </a:rPr>
              <a:t>Code</a:t>
            </a:r>
          </a:p>
          <a:p>
            <a:pPr marL="457200" indent="-457200" algn="just">
              <a:lnSpc>
                <a:spcPct val="150000"/>
              </a:lnSpc>
              <a:spcBef>
                <a:spcPts val="415"/>
              </a:spcBef>
              <a:buSzPct val="80000"/>
              <a:buFont typeface="+mj-lt"/>
              <a:buAutoNum type="arabicPeriod"/>
              <a:tabLst>
                <a:tab pos="367030" algn="l"/>
              </a:tabLst>
            </a:pPr>
            <a:r>
              <a:rPr lang="en-US" sz="2400" dirty="0">
                <a:latin typeface="Times New Roman" panose="02020603050405020304" pitchFamily="18" charset="0"/>
                <a:ea typeface="Times New Roman" panose="02020603050405020304" pitchFamily="18" charset="0"/>
              </a:rPr>
              <a:t>Results Obtained</a:t>
            </a:r>
          </a:p>
          <a:p>
            <a:pPr marL="457200" indent="-457200" algn="just">
              <a:lnSpc>
                <a:spcPct val="150000"/>
              </a:lnSpc>
              <a:spcBef>
                <a:spcPts val="415"/>
              </a:spcBef>
              <a:buSzPct val="80000"/>
              <a:buFont typeface="+mj-lt"/>
              <a:buAutoNum type="arabicPeriod"/>
              <a:tabLst>
                <a:tab pos="367030" algn="l"/>
              </a:tabLst>
            </a:pPr>
            <a:r>
              <a:rPr lang="en-US" sz="2400" dirty="0">
                <a:latin typeface="Times New Roman" panose="02020603050405020304" pitchFamily="18" charset="0"/>
                <a:ea typeface="Times New Roman" panose="02020603050405020304" pitchFamily="18" charset="0"/>
              </a:rPr>
              <a:t>Performance Evaluation</a:t>
            </a:r>
          </a:p>
          <a:p>
            <a:pPr marL="457200" indent="-457200" algn="just">
              <a:lnSpc>
                <a:spcPct val="150000"/>
              </a:lnSpc>
              <a:spcBef>
                <a:spcPts val="415"/>
              </a:spcBef>
              <a:buSzPct val="80000"/>
              <a:buFont typeface="+mj-lt"/>
              <a:buAutoNum type="arabicPeriod"/>
              <a:tabLst>
                <a:tab pos="367030" algn="l"/>
              </a:tabLst>
            </a:pPr>
            <a:r>
              <a:rPr lang="en-US" sz="2400" dirty="0">
                <a:latin typeface="Times New Roman" panose="02020603050405020304" pitchFamily="18" charset="0"/>
                <a:ea typeface="Times New Roman" panose="02020603050405020304" pitchFamily="18" charset="0"/>
              </a:rPr>
              <a:t>Conclusion</a:t>
            </a:r>
          </a:p>
          <a:p>
            <a:pPr marL="457200" indent="-457200" algn="just">
              <a:lnSpc>
                <a:spcPct val="150000"/>
              </a:lnSpc>
              <a:spcBef>
                <a:spcPts val="415"/>
              </a:spcBef>
              <a:buSzPct val="80000"/>
              <a:buFont typeface="+mj-lt"/>
              <a:buAutoNum type="arabicPeriod"/>
              <a:tabLst>
                <a:tab pos="367030" algn="l"/>
              </a:tabLst>
            </a:pPr>
            <a:r>
              <a:rPr lang="en-US" sz="2400" dirty="0">
                <a:latin typeface="Times New Roman" panose="02020603050405020304" pitchFamily="18" charset="0"/>
                <a:ea typeface="Times New Roman" panose="02020603050405020304" pitchFamily="18" charset="0"/>
              </a:rPr>
              <a:t>Future Scope</a:t>
            </a:r>
          </a:p>
          <a:p>
            <a:pPr marL="457200" indent="-457200" algn="just">
              <a:lnSpc>
                <a:spcPct val="150000"/>
              </a:lnSpc>
              <a:spcBef>
                <a:spcPts val="415"/>
              </a:spcBef>
              <a:buSzPct val="80000"/>
              <a:buFont typeface="+mj-lt"/>
              <a:buAutoNum type="arabicPeriod"/>
              <a:tabLst>
                <a:tab pos="367030" algn="l"/>
              </a:tabLst>
            </a:pPr>
            <a:r>
              <a:rPr lang="en-US" sz="2400" dirty="0">
                <a:latin typeface="Times New Roman" panose="02020603050405020304" pitchFamily="18" charset="0"/>
                <a:ea typeface="Times New Roman" panose="02020603050405020304" pitchFamily="18" charset="0"/>
              </a:rPr>
              <a:t>Contribution</a:t>
            </a:r>
            <a:endParaRPr lang="en-IN" sz="2400" dirty="0">
              <a:latin typeface="Times New Roman" panose="02020603050405020304" pitchFamily="18" charset="0"/>
              <a:ea typeface="Times New Roman" panose="02020603050405020304" pitchFamily="18" charset="0"/>
            </a:endParaRPr>
          </a:p>
          <a:p>
            <a:pPr marL="457200" indent="-457200" algn="just">
              <a:lnSpc>
                <a:spcPct val="150000"/>
              </a:lnSpc>
              <a:spcBef>
                <a:spcPts val="415"/>
              </a:spcBef>
              <a:buSzPct val="80000"/>
              <a:buFont typeface="+mj-lt"/>
              <a:buAutoNum type="arabicPeriod"/>
              <a:tabLst>
                <a:tab pos="367030" algn="l"/>
              </a:tabLst>
            </a:pPr>
            <a:r>
              <a:rPr lang="en-IN" sz="2400" dirty="0">
                <a:latin typeface="Times New Roman" panose="02020603050405020304" pitchFamily="18" charset="0"/>
                <a:ea typeface="Times New Roman" panose="02020603050405020304" pitchFamily="18" charset="0"/>
              </a:rPr>
              <a:t>References</a:t>
            </a:r>
          </a:p>
        </p:txBody>
      </p:sp>
      <p:sp>
        <p:nvSpPr>
          <p:cNvPr id="4" name="Date Placeholder 3" hidden="1"/>
          <p:cNvSpPr>
            <a:spLocks noGrp="1"/>
          </p:cNvSpPr>
          <p:nvPr>
            <p:ph type="dt" sz="half" idx="10"/>
          </p:nvPr>
        </p:nvSpPr>
        <p:spPr/>
        <p:txBody>
          <a:bodyPr/>
          <a:lstStyle/>
          <a:p>
            <a:fld id="{D121BCBC-AF21-480F-8C1A-83C58722766A}"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2</a:t>
            </a:fld>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68300" y="927100"/>
            <a:ext cx="11671300" cy="5651500"/>
          </a:xfrm>
        </p:spPr>
        <p:txBody>
          <a:bodyPr>
            <a:noAutofit/>
          </a:bodyPr>
          <a:lstStyle/>
          <a:p>
            <a:pPr algn="just">
              <a:lnSpc>
                <a:spcPct val="120000"/>
              </a:lnSpc>
            </a:pPr>
            <a:r>
              <a:rPr lang="en-US" sz="2000" dirty="0">
                <a:latin typeface="Times New Roman" pitchFamily="18" charset="0"/>
                <a:cs typeface="Times New Roman" pitchFamily="18" charset="0"/>
              </a:rPr>
              <a:t>Currency is an unavoidable part of our day-to-day life. It is straightforward for a typical human being to comprehend and recognize any banknote easily, but it is undoubtedly troublesome for anyone with a visually impaired or blind individual to accomplish a similar tasks.</a:t>
            </a:r>
          </a:p>
          <a:p>
            <a:pPr algn="just">
              <a:lnSpc>
                <a:spcPct val="120000"/>
              </a:lnSpc>
            </a:pPr>
            <a:r>
              <a:rPr lang="en-US" sz="2000" dirty="0">
                <a:latin typeface="Times New Roman" pitchFamily="18" charset="0"/>
                <a:cs typeface="Times New Roman" pitchFamily="18" charset="0"/>
              </a:rPr>
              <a:t> Banknotes commonly have unique designs according to the denomination and can be sorted with surplus human errors in the bank. These errors lead to difficulties in evaluating and recognition. Therefore, we propose a novel method for currency recognition that identifies Indian currency in different views on the scale. </a:t>
            </a:r>
          </a:p>
          <a:p>
            <a:pPr algn="just">
              <a:lnSpc>
                <a:spcPct val="120000"/>
              </a:lnSpc>
            </a:pPr>
            <a:r>
              <a:rPr lang="en-US" sz="2000" dirty="0">
                <a:latin typeface="Times New Roman" pitchFamily="18" charset="0"/>
                <a:cs typeface="Times New Roman" pitchFamily="18" charset="0"/>
              </a:rPr>
              <a:t>Hence, if computers or systems recognize currency and can detect the fake currency, it will immensely boost the precision of recognition and decreases people's workload efficiently. This work  presents an Indian Currency detection analysis, proposes an optimized model to recognize the currencies effectively.</a:t>
            </a:r>
          </a:p>
          <a:p>
            <a:pPr algn="just">
              <a:lnSpc>
                <a:spcPct val="120000"/>
              </a:lnSpc>
            </a:pPr>
            <a:r>
              <a:rPr lang="en-US" sz="2000" dirty="0">
                <a:latin typeface="Times New Roman" pitchFamily="18" charset="0"/>
                <a:cs typeface="Times New Roman" pitchFamily="18" charset="0"/>
              </a:rPr>
              <a:t> The Deep Learning approach of convolutional neural network model technique has improved the effective analysis of currency recognition with improved accuracy, high speed and efficiency along with complete automatic readily procedure with no human intervention and minimal complexity. The model which we worked on essentially classifies the currency note into distinct denominations like Rs10, Rs50, Rs100, Rs500, Rs2000 and determines whether the money is genuine or counterfeit with better accuracy.</a:t>
            </a:r>
            <a:endParaRPr lang="en-US" sz="2000" dirty="0">
              <a:solidFill>
                <a:prstClr val="black"/>
              </a:solidFill>
              <a:latin typeface="Times New Roman" panose="02020603050405020304" pitchFamily="18" charset="0"/>
              <a:cs typeface="Times New Roman" panose="02020603050405020304" pitchFamily="18" charset="0"/>
            </a:endParaRPr>
          </a:p>
          <a:p>
            <a:pPr marL="0" indent="0" algn="just">
              <a:buNone/>
            </a:pPr>
            <a:endParaRPr lang="en-IN" sz="2000" dirty="0"/>
          </a:p>
        </p:txBody>
      </p:sp>
      <p:sp>
        <p:nvSpPr>
          <p:cNvPr id="4" name="Date Placeholder 3" hidden="1"/>
          <p:cNvSpPr>
            <a:spLocks noGrp="1"/>
          </p:cNvSpPr>
          <p:nvPr>
            <p:ph type="dt" sz="half" idx="10"/>
          </p:nvPr>
        </p:nvSpPr>
        <p:spPr/>
        <p:txBody>
          <a:bodyPr/>
          <a:lstStyle/>
          <a:p>
            <a:fld id="{D121BCBC-AF21-480F-8C1A-83C58722766A}"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3</a:t>
            </a:fld>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1203649"/>
            <a:ext cx="12191999" cy="4973314"/>
          </a:xfrm>
        </p:spPr>
        <p:txBody>
          <a:bodyPr>
            <a:normAutofit/>
          </a:bodyPr>
          <a:lstStyle/>
          <a:p>
            <a:pPr algn="just">
              <a:lnSpc>
                <a:spcPct val="150000"/>
              </a:lnSpc>
            </a:pPr>
            <a:r>
              <a:rPr lang="en-US" sz="2400" dirty="0">
                <a:latin typeface="Times New Roman" pitchFamily="18" charset="0"/>
                <a:cs typeface="Times New Roman" pitchFamily="18" charset="0"/>
              </a:rPr>
              <a:t>There are several ideas in the domain of banknote recognition and counterfeit detection. Counterfeiting refers to an illegal copy of the currency of origin. Therefore, counterfeit currency is not approved by the government. RBI is the only body responsible for printing banknotes in India. Every year, the RBI has to deal with the problem of counterfeit banknotes once filtered and placed on the market. Currently with the development of better deep learning methods, new methods for identification of currency is designed by analyzing specific safety information present in the currency. The safety features are watermarks, hidden images, security threads, and optically variable inks etc. </a:t>
            </a:r>
            <a:endParaRPr lang="en-US" dirty="0">
              <a:solidFill>
                <a:prstClr val="black"/>
              </a:solidFill>
              <a:latin typeface="Times New Roman" panose="02020603050405020304" pitchFamily="18" charset="0"/>
              <a:cs typeface="Times New Roman" panose="02020603050405020304" pitchFamily="18" charset="0"/>
            </a:endParaRPr>
          </a:p>
          <a:p>
            <a:pPr algn="just" eaLnBrk="0" fontAlgn="base" hangingPunct="0">
              <a:lnSpc>
                <a:spcPct val="100000"/>
              </a:lnSpc>
              <a:spcBef>
                <a:spcPct val="20000"/>
              </a:spcBef>
              <a:spcAft>
                <a:spcPct val="0"/>
              </a:spcAft>
              <a:buClr>
                <a:srgbClr val="00007D"/>
              </a:buClr>
              <a:buSzPct val="75000"/>
            </a:pPr>
            <a:endParaRPr lang="en-US" dirty="0">
              <a:solidFill>
                <a:prstClr val="black"/>
              </a:solidFill>
              <a:latin typeface="Times New Roman" panose="02020603050405020304" pitchFamily="18" charset="0"/>
              <a:cs typeface="Times New Roman" panose="02020603050405020304" pitchFamily="18" charset="0"/>
            </a:endParaRPr>
          </a:p>
          <a:p>
            <a:pPr marL="0" indent="0" algn="just">
              <a:buNone/>
            </a:pPr>
            <a:endParaRPr lang="en-IN" dirty="0"/>
          </a:p>
        </p:txBody>
      </p:sp>
      <p:sp>
        <p:nvSpPr>
          <p:cNvPr id="4" name="Date Placeholder 3" hidden="1"/>
          <p:cNvSpPr>
            <a:spLocks noGrp="1"/>
          </p:cNvSpPr>
          <p:nvPr>
            <p:ph type="dt" sz="half" idx="10"/>
          </p:nvPr>
        </p:nvSpPr>
        <p:spPr/>
        <p:txBody>
          <a:bodyPr/>
          <a:lstStyle/>
          <a:p>
            <a:fld id="{D121BCBC-AF21-480F-8C1A-83C58722766A}"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4</a:t>
            </a:fld>
            <a:endParaRPr lang="en-IN" dirty="0"/>
          </a:p>
        </p:txBody>
      </p:sp>
    </p:spTree>
    <p:extLst>
      <p:ext uri="{BB962C8B-B14F-4D97-AF65-F5344CB8AC3E}">
        <p14:creationId xmlns:p14="http://schemas.microsoft.com/office/powerpoint/2010/main" val="2531286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LITERATURE SURVEY</a:t>
            </a:r>
          </a:p>
        </p:txBody>
      </p:sp>
      <p:graphicFrame>
        <p:nvGraphicFramePr>
          <p:cNvPr id="6" name="Table 6"/>
          <p:cNvGraphicFramePr>
            <a:graphicFrameLocks noGrp="1"/>
          </p:cNvGraphicFramePr>
          <p:nvPr>
            <p:ph idx="1"/>
            <p:extLst>
              <p:ext uri="{D42A27DB-BD31-4B8C-83A1-F6EECF244321}">
                <p14:modId xmlns:p14="http://schemas.microsoft.com/office/powerpoint/2010/main" val="2009871145"/>
              </p:ext>
            </p:extLst>
          </p:nvPr>
        </p:nvGraphicFramePr>
        <p:xfrm>
          <a:off x="0" y="1069062"/>
          <a:ext cx="12192001" cy="3861162"/>
        </p:xfrm>
        <a:graphic>
          <a:graphicData uri="http://schemas.openxmlformats.org/drawingml/2006/table">
            <a:tbl>
              <a:tblPr firstRow="1" bandRow="1">
                <a:tableStyleId>{5C22544A-7EE6-4342-B048-85BDC9FD1C3A}</a:tableStyleId>
              </a:tblPr>
              <a:tblGrid>
                <a:gridCol w="1013254">
                  <a:extLst>
                    <a:ext uri="{9D8B030D-6E8A-4147-A177-3AD203B41FA5}">
                      <a16:colId xmlns:a16="http://schemas.microsoft.com/office/drawing/2014/main" val="20000"/>
                    </a:ext>
                  </a:extLst>
                </a:gridCol>
                <a:gridCol w="2110946">
                  <a:extLst>
                    <a:ext uri="{9D8B030D-6E8A-4147-A177-3AD203B41FA5}">
                      <a16:colId xmlns:a16="http://schemas.microsoft.com/office/drawing/2014/main" val="20001"/>
                    </a:ext>
                  </a:extLst>
                </a:gridCol>
                <a:gridCol w="4173948">
                  <a:extLst>
                    <a:ext uri="{9D8B030D-6E8A-4147-A177-3AD203B41FA5}">
                      <a16:colId xmlns:a16="http://schemas.microsoft.com/office/drawing/2014/main" val="20002"/>
                    </a:ext>
                  </a:extLst>
                </a:gridCol>
                <a:gridCol w="1574003">
                  <a:extLst>
                    <a:ext uri="{9D8B030D-6E8A-4147-A177-3AD203B41FA5}">
                      <a16:colId xmlns:a16="http://schemas.microsoft.com/office/drawing/2014/main" val="20003"/>
                    </a:ext>
                  </a:extLst>
                </a:gridCol>
                <a:gridCol w="3319850">
                  <a:extLst>
                    <a:ext uri="{9D8B030D-6E8A-4147-A177-3AD203B41FA5}">
                      <a16:colId xmlns:a16="http://schemas.microsoft.com/office/drawing/2014/main" val="20004"/>
                    </a:ext>
                  </a:extLst>
                </a:gridCol>
              </a:tblGrid>
              <a:tr h="466833">
                <a:tc>
                  <a:txBody>
                    <a:bodyPr/>
                    <a:lstStyle/>
                    <a:p>
                      <a:pPr algn="ctr"/>
                      <a:r>
                        <a:rPr lang="en-IN" dirty="0">
                          <a:solidFill>
                            <a:schemeClr val="tx1"/>
                          </a:solidFill>
                          <a:latin typeface="Times New Roman" panose="02020603050405020304" pitchFamily="18" charset="0"/>
                          <a:cs typeface="Times New Roman" panose="02020603050405020304" pitchFamily="18" charset="0"/>
                        </a:rPr>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b="1" dirty="0">
                          <a:solidFill>
                            <a:schemeClr val="tx1"/>
                          </a:solidFill>
                          <a:latin typeface="Times New Roman" panose="02020603050405020304" pitchFamily="18" charset="0"/>
                          <a:ea typeface="Calibri" panose="020F0502020204030204"/>
                          <a:cs typeface="Times New Roman" panose="02020603050405020304" pitchFamily="18" charset="0"/>
                        </a:rPr>
                        <a:t>Author</a:t>
                      </a:r>
                      <a:endParaRPr lang="en-US" sz="1800" dirty="0">
                        <a:solidFill>
                          <a:schemeClr val="tx1"/>
                        </a:solidFill>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b="1" dirty="0">
                          <a:solidFill>
                            <a:schemeClr val="tx1"/>
                          </a:solidFill>
                          <a:latin typeface="Times New Roman" panose="02020603050405020304" pitchFamily="18" charset="0"/>
                          <a:ea typeface="Calibri" panose="020F0502020204030204"/>
                          <a:cs typeface="Times New Roman" panose="02020603050405020304" pitchFamily="18" charset="0"/>
                        </a:rPr>
                        <a:t>Title</a:t>
                      </a:r>
                      <a:endParaRPr lang="en-US" sz="1800" dirty="0">
                        <a:solidFill>
                          <a:schemeClr val="tx1"/>
                        </a:solidFill>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b="1" dirty="0">
                          <a:solidFill>
                            <a:schemeClr val="tx1"/>
                          </a:solidFill>
                          <a:latin typeface="Times New Roman" panose="02020603050405020304" pitchFamily="18" charset="0"/>
                          <a:ea typeface="Calibri" panose="020F0502020204030204"/>
                          <a:cs typeface="Times New Roman" panose="02020603050405020304" pitchFamily="18" charset="0"/>
                        </a:rPr>
                        <a:t>Year</a:t>
                      </a:r>
                      <a:endParaRPr lang="en-US" sz="1800" dirty="0">
                        <a:solidFill>
                          <a:schemeClr val="tx1"/>
                        </a:solidFill>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b="1" dirty="0">
                          <a:solidFill>
                            <a:schemeClr val="tx1"/>
                          </a:solidFill>
                          <a:latin typeface="Times New Roman" panose="02020603050405020304" pitchFamily="18" charset="0"/>
                          <a:ea typeface="Calibri" panose="020F0502020204030204"/>
                          <a:cs typeface="Times New Roman" panose="02020603050405020304" pitchFamily="18" charset="0"/>
                        </a:rPr>
                        <a:t>Contributions</a:t>
                      </a:r>
                      <a:endParaRPr lang="en-US" sz="1800" dirty="0">
                        <a:solidFill>
                          <a:schemeClr val="tx1"/>
                        </a:solidFill>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788205">
                <a:tc>
                  <a:txBody>
                    <a:bodyPr/>
                    <a:lstStyle/>
                    <a:p>
                      <a:r>
                        <a:rPr lang="en-US" dirty="0">
                          <a:latin typeface="Times New Roman" panose="02020603050405020304" pitchFamily="18" charset="0"/>
                          <a:cs typeface="Times New Roman" panose="02020603050405020304" pitchFamily="18" charset="0"/>
                        </a:rPr>
                        <a:t>     1</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Ali Abd Almisreb, Mohd. A.Saleh</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Transfer Learning Utilization for</a:t>
                      </a:r>
                      <a:r>
                        <a:rPr lang="en-US" sz="1800" baseline="0" dirty="0">
                          <a:latin typeface="Times New Roman" panose="02020603050405020304" pitchFamily="18" charset="0"/>
                          <a:ea typeface="Calibri" panose="020F0502020204030204"/>
                          <a:cs typeface="Times New Roman" panose="02020603050405020304" pitchFamily="18" charset="0"/>
                        </a:rPr>
                        <a:t> </a:t>
                      </a:r>
                      <a:r>
                        <a:rPr lang="en-US" sz="1800" dirty="0">
                          <a:latin typeface="Times New Roman" panose="02020603050405020304" pitchFamily="18" charset="0"/>
                          <a:ea typeface="Calibri" panose="020F0502020204030204"/>
                          <a:cs typeface="Times New Roman" panose="02020603050405020304" pitchFamily="18" charset="0"/>
                        </a:rPr>
                        <a:t>Banknote Recognition: a </a:t>
                      </a:r>
                    </a:p>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Comparative Study Based on Bosnian Currency”</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2018</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Computer</a:t>
                      </a:r>
                      <a:r>
                        <a:rPr lang="en-US" sz="1800" baseline="0" dirty="0">
                          <a:latin typeface="Times New Roman" panose="02020603050405020304" pitchFamily="18" charset="0"/>
                          <a:ea typeface="Calibri" panose="020F0502020204030204"/>
                          <a:cs typeface="Times New Roman" panose="02020603050405020304" pitchFamily="18" charset="0"/>
                        </a:rPr>
                        <a:t> vision</a:t>
                      </a:r>
                      <a:endParaRPr lang="en-US" sz="1800" dirty="0">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47302">
                <a:tc>
                  <a:txBody>
                    <a:bodyPr/>
                    <a:lstStyle/>
                    <a:p>
                      <a:r>
                        <a:rPr lang="en-US" dirty="0">
                          <a:latin typeface="Times New Roman" panose="02020603050405020304" pitchFamily="18" charset="0"/>
                          <a:cs typeface="Times New Roman" panose="02020603050405020304" pitchFamily="18" charset="0"/>
                        </a:rPr>
                        <a:t>     2  </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Srivastava , A.K.</a:t>
                      </a:r>
                      <a:r>
                        <a:rPr lang="en-US" sz="1800" baseline="0" dirty="0">
                          <a:latin typeface="Times New Roman" panose="02020603050405020304" pitchFamily="18" charset="0"/>
                          <a:ea typeface="Calibri" panose="020F0502020204030204"/>
                          <a:cs typeface="Times New Roman" panose="02020603050405020304" pitchFamily="18" charset="0"/>
                        </a:rPr>
                        <a:t> </a:t>
                      </a:r>
                      <a:r>
                        <a:rPr lang="en-US" sz="1800" baseline="0" dirty="0" err="1">
                          <a:latin typeface="Times New Roman" panose="02020603050405020304" pitchFamily="18" charset="0"/>
                          <a:ea typeface="Calibri" panose="020F0502020204030204"/>
                          <a:cs typeface="Times New Roman" panose="02020603050405020304" pitchFamily="18" charset="0"/>
                        </a:rPr>
                        <a:t>Sutskever</a:t>
                      </a:r>
                      <a:endParaRPr lang="en-US" sz="1800" dirty="0">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A simple way </a:t>
                      </a:r>
                    </a:p>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to prevent neural networks from overfitting”, Journal of Machine Learning Research,Vol. 15, </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2014</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Image processing</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47302">
                <a:tc>
                  <a:txBody>
                    <a:bodyPr/>
                    <a:lstStyle/>
                    <a:p>
                      <a:r>
                        <a:rPr lang="en-US" dirty="0">
                          <a:latin typeface="Times New Roman" panose="02020603050405020304" pitchFamily="18" charset="0"/>
                          <a:cs typeface="Times New Roman" panose="02020603050405020304" pitchFamily="18" charset="0"/>
                        </a:rPr>
                        <a:t>    </a:t>
                      </a:r>
                      <a:r>
                        <a:rPr lang="en-US" baseline="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Tong C, </a:t>
                      </a:r>
                      <a:r>
                        <a:rPr lang="en-US" sz="1800" dirty="0" err="1">
                          <a:latin typeface="Times New Roman" panose="02020603050405020304" pitchFamily="18" charset="0"/>
                          <a:ea typeface="Calibri" panose="020F0502020204030204"/>
                          <a:cs typeface="Times New Roman" panose="02020603050405020304" pitchFamily="18" charset="0"/>
                        </a:rPr>
                        <a:t>Lian,Y</a:t>
                      </a:r>
                      <a:r>
                        <a:rPr lang="en-US" sz="1800" dirty="0">
                          <a:latin typeface="Times New Roman" panose="02020603050405020304" pitchFamily="18" charset="0"/>
                          <a:ea typeface="Calibri" panose="020F0502020204030204"/>
                          <a:cs typeface="Times New Roman" panose="02020603050405020304" pitchFamily="18" charset="0"/>
                        </a:rPr>
                        <a:t>.</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A novel classification algorithm for new and used banknotes. </a:t>
                      </a:r>
                    </a:p>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Mobile Networks and Applications,</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2017</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Image processing[PCA analysis] </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4" name="Date Placeholder 3" hidden="1"/>
          <p:cNvSpPr>
            <a:spLocks noGrp="1"/>
          </p:cNvSpPr>
          <p:nvPr>
            <p:ph type="dt" sz="half" idx="10"/>
          </p:nvPr>
        </p:nvSpPr>
        <p:spPr/>
        <p:txBody>
          <a:bodyPr/>
          <a:lstStyle/>
          <a:p>
            <a:fld id="{D121BCBC-AF21-480F-8C1A-83C58722766A}" type="datetime1">
              <a:rPr lang="en-IN" smtClean="0"/>
              <a:t>06-03-2024</a:t>
            </a:fld>
            <a:endParaRPr lang="en-IN"/>
          </a:p>
        </p:txBody>
      </p:sp>
      <p:sp>
        <p:nvSpPr>
          <p:cNvPr id="5" name="Slide Number Placeholder 4" hidden="1"/>
          <p:cNvSpPr>
            <a:spLocks noGrp="1"/>
          </p:cNvSpPr>
          <p:nvPr>
            <p:ph type="sldNum" sz="quarter" idx="12"/>
          </p:nvPr>
        </p:nvSpPr>
        <p:spPr/>
        <p:txBody>
          <a:bodyPr/>
          <a:lstStyle/>
          <a:p>
            <a:fld id="{A0183BA4-7B10-4BE3-A0B2-A48721054ED6}" type="slidenum">
              <a:rPr lang="en-IN" smtClean="0"/>
              <a:t>5</a:t>
            </a:fld>
            <a:endParaRPr lang="en-IN"/>
          </a:p>
        </p:txBody>
      </p:sp>
    </p:spTree>
    <p:extLst>
      <p:ext uri="{BB962C8B-B14F-4D97-AF65-F5344CB8AC3E}">
        <p14:creationId xmlns:p14="http://schemas.microsoft.com/office/powerpoint/2010/main" val="366534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a:xfrm>
            <a:off x="-1" y="1203649"/>
            <a:ext cx="12191999" cy="4973314"/>
          </a:xfrm>
        </p:spPr>
        <p:txBody>
          <a:bodyPr>
            <a:normAutofit lnSpcReduction="10000"/>
          </a:bodyPr>
          <a:lstStyle/>
          <a:p>
            <a:pPr algn="just" eaLnBrk="0" fontAlgn="base" hangingPunct="0">
              <a:lnSpc>
                <a:spcPct val="150000"/>
              </a:lnSpc>
              <a:spcBef>
                <a:spcPct val="20000"/>
              </a:spcBef>
              <a:spcAft>
                <a:spcPct val="0"/>
              </a:spcAft>
              <a:buClr>
                <a:srgbClr val="00007D"/>
              </a:buClr>
              <a:buSzPct val="75000"/>
            </a:pPr>
            <a:r>
              <a:rPr lang="en-US" sz="2400" dirty="0">
                <a:latin typeface="Times New Roman" panose="02020603050405020304" pitchFamily="18" charset="0"/>
                <a:cs typeface="Times New Roman" panose="02020603050405020304" pitchFamily="18" charset="0"/>
              </a:rPr>
              <a:t>People could only recognize the authenticity of money through naked eyes, but observation ability of our human eyes is limited, and our eyes have difficulties to distinguish the truth money without borrowing new technologies. This method is not enough to help people to identify the counterfeit currency with more advanced fraud techniques.</a:t>
            </a:r>
            <a:endParaRPr lang="en-IN" altLang="en-US" sz="2400" dirty="0">
              <a:solidFill>
                <a:prstClr val="black"/>
              </a:solidFill>
              <a:latin typeface="Times New Roman" panose="02020603050405020304" pitchFamily="18" charset="0"/>
              <a:cs typeface="Times New Roman" panose="02020603050405020304" pitchFamily="18" charset="0"/>
            </a:endParaRPr>
          </a:p>
          <a:p>
            <a:pPr algn="just" eaLnBrk="0" fontAlgn="base" hangingPunct="0">
              <a:lnSpc>
                <a:spcPct val="150000"/>
              </a:lnSpc>
              <a:spcBef>
                <a:spcPct val="20000"/>
              </a:spcBef>
              <a:spcAft>
                <a:spcPct val="0"/>
              </a:spcAft>
              <a:buClr>
                <a:srgbClr val="00007D"/>
              </a:buClr>
              <a:buSzPct val="75000"/>
            </a:pPr>
            <a:r>
              <a:rPr lang="en-US" sz="2400" dirty="0">
                <a:solidFill>
                  <a:prstClr val="black"/>
                </a:solidFill>
                <a:latin typeface="Times New Roman" pitchFamily="18" charset="0"/>
                <a:cs typeface="Times New Roman" pitchFamily="18" charset="0"/>
              </a:rPr>
              <a:t>To determine the currency using image processing, extract the specific statistics from the currency image and select the correct recognition approach. The main methods for currency recognition is by characteristic geometric size  and by characteristic texture. The general steps followed by image processing approach is to acquire image, to detect edge, to convert image to gray scale, feature extraction, image segmentation and decision making. </a:t>
            </a:r>
            <a:endParaRPr lang="en-IN" sz="2400" dirty="0"/>
          </a:p>
        </p:txBody>
      </p:sp>
      <p:sp>
        <p:nvSpPr>
          <p:cNvPr id="4" name="Date Placeholder 3" hidden="1"/>
          <p:cNvSpPr>
            <a:spLocks noGrp="1"/>
          </p:cNvSpPr>
          <p:nvPr>
            <p:ph type="dt" sz="half" idx="10"/>
          </p:nvPr>
        </p:nvSpPr>
        <p:spPr/>
        <p:txBody>
          <a:bodyPr/>
          <a:lstStyle/>
          <a:p>
            <a:fld id="{D121BCBC-AF21-480F-8C1A-83C58722766A}"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6</a:t>
            </a:fld>
            <a:endParaRPr lang="en-IN" dirty="0"/>
          </a:p>
        </p:txBody>
      </p:sp>
    </p:spTree>
    <p:extLst>
      <p:ext uri="{BB962C8B-B14F-4D97-AF65-F5344CB8AC3E}">
        <p14:creationId xmlns:p14="http://schemas.microsoft.com/office/powerpoint/2010/main" val="4131470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215901"/>
            <a:ext cx="10858500" cy="571499"/>
          </a:xfrm>
        </p:spPr>
        <p:txBody>
          <a:bodyPr>
            <a:normAutofit fontScale="90000"/>
          </a:bodyPr>
          <a:lstStyle/>
          <a:p>
            <a:r>
              <a:rPr lang="en-US" sz="3600" b="1" dirty="0">
                <a:latin typeface="Times New Roman" pitchFamily="18" charset="0"/>
                <a:cs typeface="Times New Roman" pitchFamily="18" charset="0"/>
              </a:rPr>
              <a:t>DETAILED DESIGN</a:t>
            </a:r>
            <a:endParaRPr lang="en-IN"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393700" y="1320800"/>
            <a:ext cx="11468100" cy="4856163"/>
          </a:xfrm>
        </p:spPr>
        <p:txBody>
          <a:bodyPr>
            <a:normAutofit/>
          </a:bodyPr>
          <a:lstStyle/>
          <a:p>
            <a:r>
              <a:rPr lang="en-US" sz="2400" dirty="0">
                <a:latin typeface="Times New Roman" pitchFamily="18" charset="0"/>
                <a:cs typeface="Times New Roman" pitchFamily="18" charset="0"/>
              </a:rPr>
              <a:t>Preprocessing</a:t>
            </a:r>
          </a:p>
          <a:p>
            <a:r>
              <a:rPr lang="en-US" sz="2400" dirty="0">
                <a:latin typeface="Times New Roman" pitchFamily="18" charset="0"/>
                <a:cs typeface="Times New Roman" pitchFamily="18" charset="0"/>
              </a:rPr>
              <a:t>Convolution layer</a:t>
            </a:r>
          </a:p>
          <a:p>
            <a:r>
              <a:rPr lang="en-US" sz="2400" dirty="0">
                <a:latin typeface="Times New Roman" pitchFamily="18" charset="0"/>
                <a:cs typeface="Times New Roman" pitchFamily="18" charset="0"/>
              </a:rPr>
              <a:t>Relu activation</a:t>
            </a:r>
          </a:p>
          <a:p>
            <a:r>
              <a:rPr lang="en-US" sz="2400" dirty="0">
                <a:latin typeface="Times New Roman" pitchFamily="18" charset="0"/>
                <a:cs typeface="Times New Roman" pitchFamily="18" charset="0"/>
              </a:rPr>
              <a:t>Maxpooling layer</a:t>
            </a:r>
          </a:p>
          <a:p>
            <a:r>
              <a:rPr lang="en-US" sz="2400" dirty="0">
                <a:latin typeface="Times New Roman" pitchFamily="18" charset="0"/>
                <a:cs typeface="Times New Roman" pitchFamily="18" charset="0"/>
              </a:rPr>
              <a:t>Fully connected and dense layer</a:t>
            </a:r>
          </a:p>
          <a:p>
            <a:r>
              <a:rPr lang="en-US" sz="2400" dirty="0">
                <a:latin typeface="Times New Roman" pitchFamily="18" charset="0"/>
                <a:cs typeface="Times New Roman" pitchFamily="18" charset="0"/>
              </a:rPr>
              <a:t>Softmax classifier</a:t>
            </a:r>
          </a:p>
          <a:p>
            <a:endParaRPr lang="en-US" sz="24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7</a:t>
            </a:fld>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2986" y="419100"/>
            <a:ext cx="3629025" cy="5969000"/>
          </a:xfrm>
          <a:prstGeom prst="rect">
            <a:avLst/>
          </a:prstGeom>
        </p:spPr>
      </p:pic>
    </p:spTree>
    <p:extLst>
      <p:ext uri="{BB962C8B-B14F-4D97-AF65-F5344CB8AC3E}">
        <p14:creationId xmlns:p14="http://schemas.microsoft.com/office/powerpoint/2010/main" val="2707851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9701"/>
            <a:ext cx="10515600" cy="1041399"/>
          </a:xfrm>
        </p:spPr>
        <p:txBody>
          <a:bodyPr>
            <a:normAutofit/>
          </a:bodyPr>
          <a:lstStyle/>
          <a:p>
            <a:pPr algn="ctr"/>
            <a:r>
              <a:rPr lang="en-US" sz="3600" b="1" dirty="0">
                <a:latin typeface="Times New Roman" pitchFamily="18" charset="0"/>
                <a:cs typeface="Times New Roman" pitchFamily="18" charset="0"/>
              </a:rPr>
              <a:t>PREPROCESSING</a:t>
            </a:r>
            <a:endParaRPr lang="en-IN"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571500" y="1333500"/>
            <a:ext cx="10782300" cy="4843463"/>
          </a:xfrm>
        </p:spPr>
        <p:txBody>
          <a:bodyPr>
            <a:normAutofit/>
          </a:bodyPr>
          <a:lstStyle/>
          <a:p>
            <a:pPr algn="just"/>
            <a:r>
              <a:rPr lang="en-US" sz="2000" b="1" dirty="0">
                <a:latin typeface="Times New Roman" pitchFamily="18" charset="0"/>
                <a:cs typeface="Times New Roman" pitchFamily="18" charset="0"/>
              </a:rPr>
              <a:t>Preprocessing</a:t>
            </a:r>
            <a:r>
              <a:rPr lang="en-US" sz="2000" dirty="0">
                <a:latin typeface="Times New Roman" pitchFamily="18" charset="0"/>
                <a:cs typeface="Times New Roman" pitchFamily="18" charset="0"/>
              </a:rPr>
              <a:t> refers to all the transformations on the raw data before it is fed to the machine learning or deep learning algorithm. For instance, training a convolutional neural network on raw images will probably lead to bad classification performances .</a:t>
            </a:r>
          </a:p>
          <a:p>
            <a:pPr algn="just"/>
            <a:r>
              <a:rPr lang="en-US" sz="2000" dirty="0">
                <a:latin typeface="Times New Roman" pitchFamily="18" charset="0"/>
                <a:cs typeface="Times New Roman" pitchFamily="18" charset="0"/>
              </a:rPr>
              <a:t>The preprocessing is also important to speed up training (for instance, centering and scaling techniques)</a:t>
            </a:r>
          </a:p>
          <a:p>
            <a:pPr algn="just"/>
            <a:r>
              <a:rPr lang="en-US" sz="2000" dirty="0">
                <a:latin typeface="Times New Roman" pitchFamily="18" charset="0"/>
                <a:cs typeface="Times New Roman" pitchFamily="18" charset="0"/>
              </a:rPr>
              <a:t>Preprocessing generally involves 3 major steps:</a:t>
            </a:r>
          </a:p>
          <a:p>
            <a:pPr marL="0" indent="0" algn="just">
              <a:buNone/>
            </a:pPr>
            <a:r>
              <a:rPr lang="en-US" sz="2000" dirty="0">
                <a:latin typeface="Times New Roman" pitchFamily="18" charset="0"/>
                <a:cs typeface="Times New Roman" pitchFamily="18" charset="0"/>
              </a:rPr>
              <a:t>      1)Size of the image is normalized</a:t>
            </a:r>
          </a:p>
          <a:p>
            <a:pPr marL="0" indent="0" algn="just">
              <a:buNone/>
            </a:pPr>
            <a:r>
              <a:rPr lang="en-US" sz="2000" dirty="0">
                <a:latin typeface="Times New Roman" pitchFamily="18" charset="0"/>
                <a:cs typeface="Times New Roman" pitchFamily="18" charset="0"/>
              </a:rPr>
              <a:t>      2)Image data types are converted into float</a:t>
            </a:r>
          </a:p>
          <a:p>
            <a:pPr marL="0" indent="0" algn="just">
              <a:buNone/>
            </a:pPr>
            <a:r>
              <a:rPr lang="en-US" sz="2000" dirty="0">
                <a:latin typeface="Times New Roman" pitchFamily="18" charset="0"/>
                <a:cs typeface="Times New Roman" pitchFamily="18" charset="0"/>
              </a:rPr>
              <a:t>      3)Image to vector conversion(image pixel reading)</a:t>
            </a:r>
            <a:endParaRPr lang="en-IN" sz="20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8</a:t>
            </a:fld>
            <a:endParaRPr lang="en-IN" dirty="0"/>
          </a:p>
        </p:txBody>
      </p:sp>
    </p:spTree>
    <p:extLst>
      <p:ext uri="{BB962C8B-B14F-4D97-AF65-F5344CB8AC3E}">
        <p14:creationId xmlns:p14="http://schemas.microsoft.com/office/powerpoint/2010/main" val="2080971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7001"/>
            <a:ext cx="10515600" cy="977899"/>
          </a:xfrm>
        </p:spPr>
        <p:txBody>
          <a:bodyPr>
            <a:normAutofit/>
          </a:bodyPr>
          <a:lstStyle/>
          <a:p>
            <a:pPr algn="ctr"/>
            <a:r>
              <a:rPr lang="en-US" sz="3600" b="1" dirty="0">
                <a:latin typeface="Times New Roman" pitchFamily="18" charset="0"/>
                <a:cs typeface="Times New Roman" pitchFamily="18" charset="0"/>
              </a:rPr>
              <a:t>CONVOLUTION LAYER</a:t>
            </a:r>
            <a:endParaRPr lang="en-IN" sz="3600" b="1" dirty="0">
              <a:latin typeface="Times New Roman" pitchFamily="18" charset="0"/>
              <a:cs typeface="Times New Roman" pitchFamily="18" charset="0"/>
            </a:endParaRPr>
          </a:p>
        </p:txBody>
      </p:sp>
      <p:sp>
        <p:nvSpPr>
          <p:cNvPr id="9" name="Content Placeholder 8"/>
          <p:cNvSpPr>
            <a:spLocks noGrp="1"/>
          </p:cNvSpPr>
          <p:nvPr>
            <p:ph idx="1"/>
          </p:nvPr>
        </p:nvSpPr>
        <p:spPr>
          <a:xfrm>
            <a:off x="330200" y="1003300"/>
            <a:ext cx="11518900" cy="5173663"/>
          </a:xfrm>
        </p:spPr>
        <p:txBody>
          <a:bodyPr>
            <a:normAutofit/>
          </a:bodyPr>
          <a:lstStyle/>
          <a:p>
            <a:pPr algn="just"/>
            <a:r>
              <a:rPr lang="en-US" sz="2000" dirty="0">
                <a:latin typeface="Times New Roman" pitchFamily="18" charset="0"/>
                <a:cs typeface="Times New Roman" pitchFamily="18" charset="0"/>
              </a:rPr>
              <a:t>The process of convolution involves a kernel or filter inside this layer moving across the receptive fields of the image, checking if a feature is present in the image.</a:t>
            </a:r>
          </a:p>
          <a:p>
            <a:pPr algn="just"/>
            <a:r>
              <a:rPr lang="en-US" sz="2000" dirty="0">
                <a:latin typeface="Times New Roman" pitchFamily="18" charset="0"/>
                <a:cs typeface="Times New Roman" pitchFamily="18" charset="0"/>
              </a:rPr>
              <a:t>Over multiple iterations, the kernel sweeps over the entire image. After each iteration a dot product is calculated between the input pixels and the filter. The final output from the series of dots is known as a feature map or convolved feature. Ultimately, the image is converted into numerical values in this layer, which allows the CNN to interpret the image and extract relevant patterns from it.</a:t>
            </a:r>
            <a:endParaRPr lang="en-IN" sz="20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9</a:t>
            </a:fld>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0200" y="3441701"/>
            <a:ext cx="5930900" cy="2603500"/>
          </a:xfrm>
          <a:prstGeom prst="rect">
            <a:avLst/>
          </a:prstGeom>
        </p:spPr>
      </p:pic>
    </p:spTree>
    <p:extLst>
      <p:ext uri="{BB962C8B-B14F-4D97-AF65-F5344CB8AC3E}">
        <p14:creationId xmlns:p14="http://schemas.microsoft.com/office/powerpoint/2010/main" val="3525629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5"/>
          </a:xfrm>
        </p:spPr>
        <p:txBody>
          <a:bodyPr>
            <a:normAutofit/>
          </a:bodyPr>
          <a:lstStyle/>
          <a:p>
            <a:pPr algn="ctr"/>
            <a:r>
              <a:rPr lang="en-US" sz="3600" b="1" dirty="0">
                <a:latin typeface="Times New Roman" pitchFamily="18" charset="0"/>
                <a:cs typeface="Times New Roman" pitchFamily="18" charset="0"/>
              </a:rPr>
              <a:t>RELU ACTIVATION</a:t>
            </a:r>
            <a:endParaRPr lang="en-IN"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749300" y="1346200"/>
            <a:ext cx="10604500" cy="4830763"/>
          </a:xfrm>
        </p:spPr>
        <p:txBody>
          <a:bodyPr>
            <a:normAutofit/>
          </a:bodyPr>
          <a:lstStyle/>
          <a:p>
            <a:pPr algn="just"/>
            <a:r>
              <a:rPr lang="en-US" sz="2000" dirty="0">
                <a:latin typeface="Times New Roman" pitchFamily="18" charset="0"/>
                <a:cs typeface="Times New Roman" pitchFamily="18" charset="0"/>
              </a:rPr>
              <a:t>The Rectified Linear Unit is the most commonly used activation function in deep learning models. The function returns 0 if it receives any negative input, but for any positive value x it returns that value back. So it can be written as f(x)=max(0,x).</a:t>
            </a:r>
            <a:endParaRPr lang="en-IN" sz="20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10</a:t>
            </a:fld>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4400" y="3178174"/>
            <a:ext cx="4216400" cy="2486025"/>
          </a:xfrm>
          <a:prstGeom prst="rect">
            <a:avLst/>
          </a:prstGeom>
        </p:spPr>
      </p:pic>
    </p:spTree>
    <p:extLst>
      <p:ext uri="{BB962C8B-B14F-4D97-AF65-F5344CB8AC3E}">
        <p14:creationId xmlns:p14="http://schemas.microsoft.com/office/powerpoint/2010/main" val="2526709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1"/>
            <a:ext cx="10515600" cy="1066799"/>
          </a:xfrm>
        </p:spPr>
        <p:txBody>
          <a:bodyPr>
            <a:normAutofit/>
          </a:bodyPr>
          <a:lstStyle/>
          <a:p>
            <a:pPr algn="ctr"/>
            <a:r>
              <a:rPr lang="en-US" sz="3600" b="1" dirty="0">
                <a:latin typeface="Times New Roman" pitchFamily="18" charset="0"/>
                <a:cs typeface="Times New Roman" pitchFamily="18" charset="0"/>
              </a:rPr>
              <a:t>MAXPOOLING LAYER</a:t>
            </a:r>
            <a:endParaRPr lang="en-IN"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495300" y="1231900"/>
            <a:ext cx="10858500" cy="4945063"/>
          </a:xfrm>
        </p:spPr>
        <p:txBody>
          <a:bodyPr>
            <a:normAutofit/>
          </a:bodyPr>
          <a:lstStyle/>
          <a:p>
            <a:pPr algn="just"/>
            <a:r>
              <a:rPr lang="en-US" sz="2000" dirty="0">
                <a:latin typeface="Times New Roman" pitchFamily="18" charset="0"/>
                <a:cs typeface="Times New Roman" pitchFamily="18" charset="0"/>
              </a:rPr>
              <a:t>When added to a model, max-pooling reduces the dimensionality of images by reducing the number of pixels in the output from the previous convolutional layer.</a:t>
            </a:r>
          </a:p>
          <a:p>
            <a:pPr algn="just"/>
            <a:r>
              <a:rPr lang="en-US" sz="2000" dirty="0">
                <a:latin typeface="Times New Roman" pitchFamily="18" charset="0"/>
                <a:cs typeface="Times New Roman" pitchFamily="18" charset="0"/>
              </a:rPr>
              <a:t> This layer reduces complexity and improves the efficiency of the CNN.</a:t>
            </a:r>
          </a:p>
          <a:p>
            <a:pPr algn="just"/>
            <a:r>
              <a:rPr lang="en-US" sz="2000" dirty="0">
                <a:latin typeface="Times New Roman" pitchFamily="18" charset="0"/>
                <a:cs typeface="Times New Roman" pitchFamily="18" charset="0"/>
              </a:rPr>
              <a:t>The result of using a pooling layer and creating down sampled or pooled feature maps is a summarized version of the features detected in the input. </a:t>
            </a:r>
          </a:p>
          <a:p>
            <a:pPr marL="0" indent="0" algn="just">
              <a:buNone/>
            </a:pP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a:p>
            <a:pPr marL="0" indent="0" algn="just">
              <a:buNone/>
            </a:pPr>
            <a:endParaRPr lang="en-IN" sz="20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11</a:t>
            </a:fld>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5400" y="3568700"/>
            <a:ext cx="3937000" cy="1866900"/>
          </a:xfrm>
          <a:prstGeom prst="rect">
            <a:avLst/>
          </a:prstGeom>
        </p:spPr>
      </p:pic>
    </p:spTree>
    <p:extLst>
      <p:ext uri="{BB962C8B-B14F-4D97-AF65-F5344CB8AC3E}">
        <p14:creationId xmlns:p14="http://schemas.microsoft.com/office/powerpoint/2010/main" val="1521776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8375"/>
          </a:xfrm>
        </p:spPr>
        <p:txBody>
          <a:bodyPr>
            <a:normAutofit/>
          </a:bodyPr>
          <a:lstStyle/>
          <a:p>
            <a:pPr algn="ctr"/>
            <a:r>
              <a:rPr lang="en-US" sz="3600" b="1" dirty="0">
                <a:latin typeface="Times New Roman" pitchFamily="18" charset="0"/>
                <a:cs typeface="Times New Roman" pitchFamily="18" charset="0"/>
              </a:rPr>
              <a:t>FULLY CONNECTED AND DENSE LAYER</a:t>
            </a:r>
            <a:endParaRPr lang="en-IN"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346200"/>
            <a:ext cx="10515600" cy="4830763"/>
          </a:xfrm>
        </p:spPr>
        <p:txBody>
          <a:bodyPr>
            <a:normAutofit/>
          </a:bodyPr>
          <a:lstStyle/>
          <a:p>
            <a:pPr algn="just"/>
            <a:r>
              <a:rPr lang="en-US" sz="2000" dirty="0">
                <a:latin typeface="Times New Roman" pitchFamily="18" charset="0"/>
                <a:cs typeface="Times New Roman" pitchFamily="18" charset="0"/>
              </a:rPr>
              <a:t>The FC layer is where image classification happens in the CNN based on the features extracted in the previous layers. Here, fully connected means that all the inputs or nodes from one layer are connected to every activation unit or node of the next layer.</a:t>
            </a:r>
            <a:endParaRPr lang="en-IN" sz="20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12</a:t>
            </a:fld>
            <a:endParaRPr lang="en-IN"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8861" y="2470150"/>
            <a:ext cx="7534275" cy="3695700"/>
          </a:xfrm>
          <a:prstGeom prst="rect">
            <a:avLst/>
          </a:prstGeom>
        </p:spPr>
      </p:pic>
    </p:spTree>
    <p:extLst>
      <p:ext uri="{BB962C8B-B14F-4D97-AF65-F5344CB8AC3E}">
        <p14:creationId xmlns:p14="http://schemas.microsoft.com/office/powerpoint/2010/main" val="2165623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Times New Roman" pitchFamily="18" charset="0"/>
                <a:cs typeface="Times New Roman" pitchFamily="18" charset="0"/>
              </a:rPr>
              <a:t>SOFTMAX CLASSIFIER</a:t>
            </a:r>
            <a:endParaRPr lang="en-IN"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558800" y="1485900"/>
            <a:ext cx="10795000" cy="4691063"/>
          </a:xfrm>
        </p:spPr>
        <p:txBody>
          <a:bodyPr>
            <a:normAutofit/>
          </a:bodyPr>
          <a:lstStyle/>
          <a:p>
            <a:pPr algn="just"/>
            <a:r>
              <a:rPr lang="en-US" sz="2000" dirty="0">
                <a:latin typeface="Times New Roman" pitchFamily="18" charset="0"/>
                <a:cs typeface="Times New Roman" pitchFamily="18" charset="0"/>
              </a:rPr>
              <a:t>Softmax classifiers  give  you  probabilities  for  each class  label </a:t>
            </a:r>
          </a:p>
          <a:p>
            <a:pPr algn="just"/>
            <a:r>
              <a:rPr lang="en-US" sz="2000" dirty="0">
                <a:latin typeface="Times New Roman" pitchFamily="18" charset="0"/>
                <a:cs typeface="Times New Roman" pitchFamily="18" charset="0"/>
              </a:rPr>
              <a:t>Generally , we use ReLU in hidden layer to avoid vanishing gradient problem and better computation performance , and Softmax function use in last output layer .</a:t>
            </a:r>
          </a:p>
          <a:p>
            <a:pPr algn="just"/>
            <a:r>
              <a:rPr lang="en-US" sz="2000" dirty="0">
                <a:latin typeface="Times New Roman" pitchFamily="18" charset="0"/>
                <a:cs typeface="Times New Roman" pitchFamily="18" charset="0"/>
              </a:rPr>
              <a:t>The information moves from the input layer to the hidden layers. In a simple case of each layer, we just multiply the inputs by the</a:t>
            </a:r>
            <a:r>
              <a:rPr lang="en-US" sz="2000" b="1" dirty="0">
                <a:latin typeface="Times New Roman" pitchFamily="18" charset="0"/>
                <a:cs typeface="Times New Roman" pitchFamily="18" charset="0"/>
              </a:rPr>
              <a:t> weights</a:t>
            </a:r>
            <a:r>
              <a:rPr lang="en-US" sz="2000" dirty="0">
                <a:latin typeface="Times New Roman" pitchFamily="18" charset="0"/>
                <a:cs typeface="Times New Roman" pitchFamily="18" charset="0"/>
              </a:rPr>
              <a:t>, add a </a:t>
            </a:r>
            <a:r>
              <a:rPr lang="en-US" sz="2000" b="1" dirty="0">
                <a:latin typeface="Times New Roman" pitchFamily="18" charset="0"/>
                <a:cs typeface="Times New Roman" pitchFamily="18" charset="0"/>
              </a:rPr>
              <a:t>bias</a:t>
            </a:r>
            <a:r>
              <a:rPr lang="en-US" sz="2000" dirty="0">
                <a:latin typeface="Times New Roman" pitchFamily="18" charset="0"/>
                <a:cs typeface="Times New Roman" pitchFamily="18" charset="0"/>
              </a:rPr>
              <a:t> and apply an </a:t>
            </a:r>
            <a:r>
              <a:rPr lang="en-US" sz="2000" b="1" dirty="0">
                <a:latin typeface="Times New Roman" pitchFamily="18" charset="0"/>
                <a:cs typeface="Times New Roman" pitchFamily="18" charset="0"/>
              </a:rPr>
              <a:t>activation</a:t>
            </a: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function</a:t>
            </a:r>
            <a:r>
              <a:rPr lang="en-US" sz="2000" dirty="0">
                <a:latin typeface="Times New Roman" pitchFamily="18" charset="0"/>
                <a:cs typeface="Times New Roman" pitchFamily="18" charset="0"/>
              </a:rPr>
              <a:t> to the result and pass the output to the next layer. We keep repeating this process until we reach the last layer</a:t>
            </a:r>
            <a:r>
              <a:rPr lang="en-US" sz="2000" dirty="0"/>
              <a:t>.</a:t>
            </a:r>
          </a:p>
          <a:p>
            <a:pPr marL="0" indent="0" algn="just">
              <a:buNone/>
            </a:pPr>
            <a:endParaRPr lang="en-IN" sz="20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13</a:t>
            </a:fld>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6864" y="3555803"/>
            <a:ext cx="6249272" cy="2819794"/>
          </a:xfrm>
          <a:prstGeom prst="rect">
            <a:avLst/>
          </a:prstGeom>
        </p:spPr>
      </p:pic>
    </p:spTree>
    <p:extLst>
      <p:ext uri="{BB962C8B-B14F-4D97-AF65-F5344CB8AC3E}">
        <p14:creationId xmlns:p14="http://schemas.microsoft.com/office/powerpoint/2010/main" val="3144970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939799"/>
          </a:xfrm>
        </p:spPr>
        <p:txBody>
          <a:bodyPr>
            <a:normAutofit/>
          </a:bodyPr>
          <a:lstStyle/>
          <a:p>
            <a:pPr algn="ctr"/>
            <a:r>
              <a:rPr lang="en-IN" sz="3600" b="1" dirty="0">
                <a:latin typeface="Times New Roman" pitchFamily="18" charset="0"/>
                <a:cs typeface="Times New Roman" pitchFamily="18" charset="0"/>
              </a:rPr>
              <a:t>CODE…</a:t>
            </a:r>
          </a:p>
        </p:txBody>
      </p:sp>
      <p:sp>
        <p:nvSpPr>
          <p:cNvPr id="6" name="Content Placeholder 5"/>
          <p:cNvSpPr>
            <a:spLocks noGrp="1"/>
          </p:cNvSpPr>
          <p:nvPr>
            <p:ph idx="1"/>
          </p:nvPr>
        </p:nvSpPr>
        <p:spPr>
          <a:xfrm>
            <a:off x="215900" y="711200"/>
            <a:ext cx="11709400" cy="5930900"/>
          </a:xfrm>
        </p:spPr>
        <p:txBody>
          <a:bodyPr>
            <a:noAutofit/>
          </a:bodyPr>
          <a:lstStyle/>
          <a:p>
            <a:pPr marL="0" indent="0">
              <a:buNone/>
            </a:pPr>
            <a:r>
              <a:rPr lang="en-IN" sz="2000" b="1" dirty="0">
                <a:latin typeface="Times New Roman" pitchFamily="18" charset="0"/>
                <a:cs typeface="Times New Roman" pitchFamily="18" charset="0"/>
              </a:rPr>
              <a:t>#loading require python, keras, sklearn and tensorflow packages</a:t>
            </a:r>
          </a:p>
          <a:p>
            <a:pPr marL="0" indent="0">
              <a:buNone/>
            </a:pPr>
            <a:r>
              <a:rPr lang="en-IN" sz="1800" dirty="0">
                <a:latin typeface="Times New Roman" pitchFamily="18" charset="0"/>
                <a:cs typeface="Times New Roman" pitchFamily="18" charset="0"/>
              </a:rPr>
              <a:t>import matplotlib.pyplot as plt</a:t>
            </a:r>
          </a:p>
          <a:p>
            <a:pPr marL="0" indent="0">
              <a:buNone/>
            </a:pPr>
            <a:r>
              <a:rPr lang="en-IN" sz="1800" dirty="0">
                <a:latin typeface="Times New Roman" pitchFamily="18" charset="0"/>
                <a:cs typeface="Times New Roman" pitchFamily="18" charset="0"/>
              </a:rPr>
              <a:t>import seaborn as sns</a:t>
            </a:r>
          </a:p>
          <a:p>
            <a:pPr marL="0" indent="0">
              <a:buNone/>
            </a:pPr>
            <a:r>
              <a:rPr lang="en-IN" sz="1800" dirty="0">
                <a:latin typeface="Times New Roman" pitchFamily="18" charset="0"/>
                <a:cs typeface="Times New Roman" pitchFamily="18" charset="0"/>
              </a:rPr>
              <a:t>from sklearn.metrics import precision_score</a:t>
            </a:r>
          </a:p>
          <a:p>
            <a:pPr marL="0" indent="0">
              <a:buNone/>
            </a:pPr>
            <a:r>
              <a:rPr lang="en-IN" sz="1800" dirty="0">
                <a:latin typeface="Times New Roman" pitchFamily="18" charset="0"/>
                <a:cs typeface="Times New Roman" pitchFamily="18" charset="0"/>
              </a:rPr>
              <a:t>from sklearn.metrics import recall_score</a:t>
            </a:r>
          </a:p>
          <a:p>
            <a:pPr marL="0" indent="0">
              <a:buNone/>
            </a:pPr>
            <a:r>
              <a:rPr lang="en-IN" sz="1800" dirty="0">
                <a:latin typeface="Times New Roman" pitchFamily="18" charset="0"/>
                <a:cs typeface="Times New Roman" pitchFamily="18" charset="0"/>
              </a:rPr>
              <a:t>from sklearn.metrics import f1_score</a:t>
            </a:r>
          </a:p>
          <a:p>
            <a:pPr marL="0" indent="0">
              <a:buNone/>
            </a:pPr>
            <a:r>
              <a:rPr lang="en-IN" sz="1800" dirty="0">
                <a:latin typeface="Times New Roman" pitchFamily="18" charset="0"/>
                <a:cs typeface="Times New Roman" pitchFamily="18" charset="0"/>
              </a:rPr>
              <a:t>from sklearn.metrics import confusion_matrix</a:t>
            </a:r>
          </a:p>
          <a:p>
            <a:pPr marL="0" indent="0">
              <a:buNone/>
            </a:pPr>
            <a:r>
              <a:rPr lang="en-IN" sz="1800" dirty="0">
                <a:latin typeface="Times New Roman" pitchFamily="18" charset="0"/>
                <a:cs typeface="Times New Roman" pitchFamily="18" charset="0"/>
              </a:rPr>
              <a:t>from sklearn.metrics import accuracy_score</a:t>
            </a:r>
          </a:p>
          <a:p>
            <a:pPr marL="0" indent="0">
              <a:buNone/>
            </a:pPr>
            <a:r>
              <a:rPr lang="en-IN" sz="1800" dirty="0">
                <a:latin typeface="Times New Roman" pitchFamily="18" charset="0"/>
                <a:cs typeface="Times New Roman" pitchFamily="18" charset="0"/>
              </a:rPr>
              <a:t>import cv2</a:t>
            </a:r>
          </a:p>
          <a:p>
            <a:pPr marL="0" indent="0">
              <a:buNone/>
            </a:pPr>
            <a:r>
              <a:rPr lang="en-IN" sz="1800" dirty="0">
                <a:latin typeface="Times New Roman" pitchFamily="18" charset="0"/>
                <a:cs typeface="Times New Roman" pitchFamily="18" charset="0"/>
              </a:rPr>
              <a:t>import numpy as np</a:t>
            </a:r>
          </a:p>
          <a:p>
            <a:pPr marL="0" indent="0">
              <a:buNone/>
            </a:pPr>
            <a:r>
              <a:rPr lang="en-IN" sz="1800" dirty="0">
                <a:latin typeface="Times New Roman" pitchFamily="18" charset="0"/>
                <a:cs typeface="Times New Roman" pitchFamily="18" charset="0"/>
              </a:rPr>
              <a:t>from keras.utils.np_utils import to_categorical</a:t>
            </a:r>
          </a:p>
          <a:p>
            <a:pPr marL="0" indent="0">
              <a:buNone/>
            </a:pPr>
            <a:r>
              <a:rPr lang="en-IN" sz="1800" dirty="0">
                <a:latin typeface="Times New Roman" pitchFamily="18" charset="0"/>
                <a:cs typeface="Times New Roman" pitchFamily="18" charset="0"/>
              </a:rPr>
              <a:t>from keras.layers import  MaxPooling2D</a:t>
            </a:r>
          </a:p>
          <a:p>
            <a:pPr marL="0" indent="0">
              <a:buNone/>
            </a:pPr>
            <a:r>
              <a:rPr lang="en-IN" sz="1800" dirty="0">
                <a:latin typeface="Times New Roman" pitchFamily="18" charset="0"/>
                <a:cs typeface="Times New Roman" pitchFamily="18" charset="0"/>
              </a:rPr>
              <a:t>from keras.layers import Dense, Dropout, Activation, Flatten</a:t>
            </a:r>
          </a:p>
          <a:p>
            <a:pPr marL="0" indent="0">
              <a:buNone/>
            </a:pPr>
            <a:r>
              <a:rPr lang="en-IN" sz="1800" dirty="0">
                <a:latin typeface="Times New Roman" pitchFamily="18" charset="0"/>
                <a:cs typeface="Times New Roman" pitchFamily="18" charset="0"/>
              </a:rPr>
              <a:t>from keras.layers import Convolution2D</a:t>
            </a:r>
          </a:p>
          <a:p>
            <a:pPr marL="0" indent="0">
              <a:buNone/>
            </a:pPr>
            <a:r>
              <a:rPr lang="en-IN" sz="1800" dirty="0">
                <a:latin typeface="Times New Roman" pitchFamily="18" charset="0"/>
                <a:cs typeface="Times New Roman" pitchFamily="18" charset="0"/>
              </a:rPr>
              <a:t>from keras.models import Sequential</a:t>
            </a:r>
          </a:p>
          <a:p>
            <a:pPr marL="0" indent="0">
              <a:buNone/>
            </a:pPr>
            <a:r>
              <a:rPr lang="en-IN" sz="1800" dirty="0">
                <a:latin typeface="Times New Roman" pitchFamily="18" charset="0"/>
                <a:cs typeface="Times New Roman" pitchFamily="18" charset="0"/>
              </a:rPr>
              <a:t>from keras.models import model_from_json</a:t>
            </a: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14</a:t>
            </a:fld>
            <a:endParaRPr lang="en-IN" dirty="0"/>
          </a:p>
        </p:txBody>
      </p:sp>
    </p:spTree>
    <p:extLst>
      <p:ext uri="{BB962C8B-B14F-4D97-AF65-F5344CB8AC3E}">
        <p14:creationId xmlns:p14="http://schemas.microsoft.com/office/powerpoint/2010/main" val="221747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6700" y="228600"/>
            <a:ext cx="11734800" cy="6527800"/>
          </a:xfrm>
        </p:spPr>
        <p:txBody>
          <a:bodyPr>
            <a:normAutofit fontScale="92500" lnSpcReduction="10000"/>
          </a:bodyPr>
          <a:lstStyle/>
          <a:p>
            <a:pPr marL="0" indent="0">
              <a:buNone/>
            </a:pPr>
            <a:r>
              <a:rPr lang="en-IN" sz="1800" dirty="0">
                <a:latin typeface="Times New Roman" pitchFamily="18" charset="0"/>
                <a:cs typeface="Times New Roman" pitchFamily="18" charset="0"/>
              </a:rPr>
              <a:t>import pickle</a:t>
            </a:r>
          </a:p>
          <a:p>
            <a:pPr marL="0" indent="0">
              <a:buNone/>
            </a:pPr>
            <a:r>
              <a:rPr lang="en-IN" sz="1800" dirty="0">
                <a:latin typeface="Times New Roman" pitchFamily="18" charset="0"/>
                <a:cs typeface="Times New Roman" pitchFamily="18" charset="0"/>
              </a:rPr>
              <a:t>import os</a:t>
            </a:r>
          </a:p>
          <a:p>
            <a:pPr marL="0" indent="0">
              <a:buNone/>
            </a:pPr>
            <a:r>
              <a:rPr lang="en-IN" sz="1800" dirty="0">
                <a:latin typeface="Times New Roman" pitchFamily="18" charset="0"/>
                <a:cs typeface="Times New Roman" pitchFamily="18" charset="0"/>
              </a:rPr>
              <a:t>from sklearn.model_selection import train_test_split</a:t>
            </a:r>
          </a:p>
          <a:p>
            <a:pPr marL="0" indent="0">
              <a:buNone/>
            </a:pPr>
            <a:r>
              <a:rPr lang="en-IN" sz="1800" dirty="0">
                <a:latin typeface="Times New Roman" pitchFamily="18" charset="0"/>
                <a:cs typeface="Times New Roman" pitchFamily="18" charset="0"/>
              </a:rPr>
              <a:t>from keras.applications import ResNet50</a:t>
            </a:r>
          </a:p>
          <a:p>
            <a:pPr marL="0" indent="0">
              <a:buNone/>
            </a:pPr>
            <a:r>
              <a:rPr lang="en-IN" sz="1800" dirty="0">
                <a:latin typeface="Times New Roman" pitchFamily="18" charset="0"/>
                <a:cs typeface="Times New Roman" pitchFamily="18" charset="0"/>
              </a:rPr>
              <a:t>from keras.applications import VGG16</a:t>
            </a:r>
          </a:p>
          <a:p>
            <a:pPr marL="0" indent="0">
              <a:buNone/>
            </a:pPr>
            <a:r>
              <a:rPr lang="en-IN" sz="1800" dirty="0">
                <a:latin typeface="Times New Roman" pitchFamily="18" charset="0"/>
                <a:cs typeface="Times New Roman" pitchFamily="18" charset="0"/>
              </a:rPr>
              <a:t>import pandas as pd</a:t>
            </a:r>
          </a:p>
          <a:p>
            <a:pPr marL="0" indent="0">
              <a:buNone/>
            </a:pPr>
            <a:r>
              <a:rPr lang="en-IN" sz="1800" dirty="0">
                <a:latin typeface="Times New Roman" pitchFamily="18" charset="0"/>
                <a:cs typeface="Times New Roman" pitchFamily="18" charset="0"/>
              </a:rPr>
              <a:t>from keras.layers import Conv2D, MaxPooling2D, GlobalAveragePooling2D</a:t>
            </a:r>
          </a:p>
          <a:p>
            <a:pPr marL="0" indent="0">
              <a:buNone/>
            </a:pPr>
            <a:r>
              <a:rPr lang="en-IN" sz="1800" dirty="0">
                <a:latin typeface="Times New Roman" pitchFamily="18" charset="0"/>
                <a:cs typeface="Times New Roman" pitchFamily="18" charset="0"/>
              </a:rPr>
              <a:t>from keras.models import load_model</a:t>
            </a:r>
          </a:p>
          <a:p>
            <a:pPr marL="0" indent="0">
              <a:buNone/>
            </a:pPr>
            <a:endParaRPr lang="en-US" sz="1800" dirty="0">
              <a:latin typeface="Times New Roman" pitchFamily="18" charset="0"/>
              <a:cs typeface="Times New Roman" pitchFamily="18" charset="0"/>
            </a:endParaRPr>
          </a:p>
          <a:p>
            <a:pPr marL="0" indent="0">
              <a:buNone/>
            </a:pPr>
            <a:r>
              <a:rPr lang="en-US" sz="2000" b="1" dirty="0">
                <a:latin typeface="Times New Roman" pitchFamily="18" charset="0"/>
                <a:cs typeface="Times New Roman" pitchFamily="18" charset="0"/>
              </a:rPr>
              <a:t>#defining labels of each class</a:t>
            </a:r>
          </a:p>
          <a:p>
            <a:pPr marL="0" indent="0">
              <a:buNone/>
            </a:pPr>
            <a:r>
              <a:rPr lang="en-US" sz="1800" dirty="0">
                <a:latin typeface="Times New Roman" pitchFamily="18" charset="0"/>
                <a:cs typeface="Times New Roman" pitchFamily="18" charset="0"/>
              </a:rPr>
              <a:t>classes = ['100_new_back_Original', '100_new_front_Original', '100_old_back_Original',</a:t>
            </a:r>
          </a:p>
          <a:p>
            <a:pPr marL="0" indent="0">
              <a:buNone/>
            </a:pPr>
            <a:r>
              <a:rPr lang="en-US" sz="1800" dirty="0">
                <a:latin typeface="Times New Roman" pitchFamily="18" charset="0"/>
                <a:cs typeface="Times New Roman" pitchFamily="18" charset="0"/>
              </a:rPr>
              <a:t>                '100_old_front_Original',    '10_new_back_Original',  '10_new_front_Original',</a:t>
            </a:r>
          </a:p>
          <a:p>
            <a:pPr marL="0" indent="0">
              <a:buNone/>
            </a:pPr>
            <a:r>
              <a:rPr lang="en-US" sz="1800" dirty="0">
                <a:latin typeface="Times New Roman" pitchFamily="18" charset="0"/>
                <a:cs typeface="Times New Roman" pitchFamily="18" charset="0"/>
              </a:rPr>
              <a:t>                '10_old_back_Original',  '10_old_front_Original',  '2000_new_back_Original',</a:t>
            </a:r>
          </a:p>
          <a:p>
            <a:pPr marL="0" indent="0">
              <a:buNone/>
            </a:pPr>
            <a:r>
              <a:rPr lang="en-US" sz="1800" dirty="0">
                <a:latin typeface="Times New Roman" pitchFamily="18" charset="0"/>
                <a:cs typeface="Times New Roman" pitchFamily="18" charset="0"/>
              </a:rPr>
              <a:t>                '2000_new_front_Original',  '200_new_back_Original', '200_new_front_Original',</a:t>
            </a:r>
          </a:p>
          <a:p>
            <a:pPr marL="0" indent="0">
              <a:buNone/>
            </a:pPr>
            <a:r>
              <a:rPr lang="en-US" sz="1800" dirty="0">
                <a:latin typeface="Times New Roman" pitchFamily="18" charset="0"/>
                <a:cs typeface="Times New Roman" pitchFamily="18" charset="0"/>
              </a:rPr>
              <a:t>               '20_new_back_Original', '20_new_front_Original', '20_old_back_Original',</a:t>
            </a:r>
          </a:p>
          <a:p>
            <a:pPr marL="0" indent="0">
              <a:buNone/>
            </a:pPr>
            <a:r>
              <a:rPr lang="en-US" sz="1800" dirty="0">
                <a:latin typeface="Times New Roman" pitchFamily="18" charset="0"/>
                <a:cs typeface="Times New Roman" pitchFamily="18" charset="0"/>
              </a:rPr>
              <a:t>               '20_old_front_Original',  '500_new_back_Original', '500_new_front_Original',</a:t>
            </a:r>
          </a:p>
          <a:p>
            <a:pPr marL="0" indent="0">
              <a:buNone/>
            </a:pPr>
            <a:r>
              <a:rPr lang="en-US" sz="1800" dirty="0">
                <a:latin typeface="Times New Roman" pitchFamily="18" charset="0"/>
                <a:cs typeface="Times New Roman" pitchFamily="18" charset="0"/>
              </a:rPr>
              <a:t>               '50_new_back_Original', '50_new_front_Original', '50_old_back_Original', '50_old_front_Original',</a:t>
            </a:r>
          </a:p>
          <a:p>
            <a:pPr marL="0" indent="0">
              <a:buNone/>
            </a:pPr>
            <a:r>
              <a:rPr lang="en-US" sz="1800" dirty="0">
                <a:latin typeface="Times New Roman" pitchFamily="18" charset="0"/>
                <a:cs typeface="Times New Roman" pitchFamily="18" charset="0"/>
              </a:rPr>
              <a:t>               'Fake  Currency']</a:t>
            </a:r>
            <a:endParaRPr lang="en-IN" sz="18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15</a:t>
            </a:fld>
            <a:endParaRPr lang="en-IN" dirty="0"/>
          </a:p>
        </p:txBody>
      </p:sp>
    </p:spTree>
    <p:extLst>
      <p:ext uri="{BB962C8B-B14F-4D97-AF65-F5344CB8AC3E}">
        <p14:creationId xmlns:p14="http://schemas.microsoft.com/office/powerpoint/2010/main" val="1365852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1300" y="203200"/>
            <a:ext cx="11785600" cy="6324600"/>
          </a:xfrm>
        </p:spPr>
        <p:txBody>
          <a:bodyPr>
            <a:normAutofit fontScale="85000" lnSpcReduction="20000"/>
          </a:bodyPr>
          <a:lstStyle/>
          <a:p>
            <a:pPr marL="0" indent="0">
              <a:buNone/>
            </a:pPr>
            <a:r>
              <a:rPr lang="en-US" sz="2200" b="1" dirty="0">
                <a:latin typeface="Times New Roman" pitchFamily="18" charset="0"/>
                <a:cs typeface="Times New Roman" pitchFamily="18" charset="0"/>
              </a:rPr>
              <a:t>#function to get numeric id of the class</a:t>
            </a:r>
          </a:p>
          <a:p>
            <a:pPr marL="0" indent="0">
              <a:buNone/>
            </a:pPr>
            <a:r>
              <a:rPr lang="en-US" sz="1800" dirty="0">
                <a:latin typeface="Times New Roman" pitchFamily="18" charset="0"/>
                <a:cs typeface="Times New Roman" pitchFamily="18" charset="0"/>
              </a:rPr>
              <a:t>def getID(name):</a:t>
            </a:r>
          </a:p>
          <a:p>
            <a:pPr marL="0" indent="0">
              <a:buNone/>
            </a:pPr>
            <a:r>
              <a:rPr lang="en-US" sz="1800" dirty="0">
                <a:latin typeface="Times New Roman" pitchFamily="18" charset="0"/>
                <a:cs typeface="Times New Roman" pitchFamily="18" charset="0"/>
              </a:rPr>
              <a:t>    index = 0</a:t>
            </a:r>
          </a:p>
          <a:p>
            <a:pPr marL="0" indent="0">
              <a:buNone/>
            </a:pPr>
            <a:r>
              <a:rPr lang="en-US" sz="1800" dirty="0">
                <a:latin typeface="Times New Roman" pitchFamily="18" charset="0"/>
                <a:cs typeface="Times New Roman" pitchFamily="18" charset="0"/>
              </a:rPr>
              <a:t>    for i in range(len(classes)):</a:t>
            </a:r>
          </a:p>
          <a:p>
            <a:pPr marL="0" indent="0">
              <a:buNone/>
            </a:pPr>
            <a:r>
              <a:rPr lang="en-US" sz="1800" dirty="0">
                <a:latin typeface="Times New Roman" pitchFamily="18" charset="0"/>
                <a:cs typeface="Times New Roman" pitchFamily="18" charset="0"/>
              </a:rPr>
              <a:t>        if classes[i] == name:</a:t>
            </a:r>
          </a:p>
          <a:p>
            <a:pPr marL="0" indent="0">
              <a:buNone/>
            </a:pPr>
            <a:r>
              <a:rPr lang="en-US" sz="1800" dirty="0">
                <a:latin typeface="Times New Roman" pitchFamily="18" charset="0"/>
                <a:cs typeface="Times New Roman" pitchFamily="18" charset="0"/>
              </a:rPr>
              <a:t>            index = i</a:t>
            </a:r>
          </a:p>
          <a:p>
            <a:pPr marL="0" indent="0">
              <a:buNone/>
            </a:pPr>
            <a:r>
              <a:rPr lang="en-US" sz="1800" dirty="0">
                <a:latin typeface="Times New Roman" pitchFamily="18" charset="0"/>
                <a:cs typeface="Times New Roman" pitchFamily="18" charset="0"/>
              </a:rPr>
              <a:t>            break</a:t>
            </a:r>
          </a:p>
          <a:p>
            <a:pPr marL="0" indent="0">
              <a:buNone/>
            </a:pPr>
            <a:r>
              <a:rPr lang="en-US" sz="1800" dirty="0">
                <a:latin typeface="Times New Roman" pitchFamily="18" charset="0"/>
                <a:cs typeface="Times New Roman" pitchFamily="18" charset="0"/>
              </a:rPr>
              <a:t>    return index </a:t>
            </a:r>
          </a:p>
          <a:p>
            <a:pPr marL="0" indent="0">
              <a:buNone/>
            </a:pPr>
            <a:endParaRPr lang="en-US" sz="1800" dirty="0">
              <a:latin typeface="Times New Roman" pitchFamily="18" charset="0"/>
              <a:cs typeface="Times New Roman" pitchFamily="18" charset="0"/>
            </a:endParaRPr>
          </a:p>
          <a:p>
            <a:pPr marL="0" indent="0">
              <a:buNone/>
            </a:pPr>
            <a:endParaRPr lang="en-US" sz="1800" dirty="0">
              <a:latin typeface="Times New Roman" pitchFamily="18" charset="0"/>
              <a:cs typeface="Times New Roman" pitchFamily="18" charset="0"/>
            </a:endParaRPr>
          </a:p>
          <a:p>
            <a:pPr marL="0" indent="0">
              <a:buNone/>
            </a:pPr>
            <a:r>
              <a:rPr lang="en-IN" sz="1800" dirty="0">
                <a:latin typeface="Times New Roman" pitchFamily="18" charset="0"/>
                <a:cs typeface="Times New Roman" pitchFamily="18" charset="0"/>
              </a:rPr>
              <a:t>if os.path.exists('model/X.txt.npy'):</a:t>
            </a:r>
          </a:p>
          <a:p>
            <a:pPr marL="0" indent="0">
              <a:buNone/>
            </a:pPr>
            <a:r>
              <a:rPr lang="en-IN" sz="1800" dirty="0">
                <a:latin typeface="Times New Roman" pitchFamily="18" charset="0"/>
                <a:cs typeface="Times New Roman" pitchFamily="18" charset="0"/>
              </a:rPr>
              <a:t>    X = np.load('model/X.txt.npy')</a:t>
            </a:r>
          </a:p>
          <a:p>
            <a:pPr marL="0" indent="0">
              <a:buNone/>
            </a:pPr>
            <a:r>
              <a:rPr lang="en-IN" sz="1800" dirty="0">
                <a:latin typeface="Times New Roman" pitchFamily="18" charset="0"/>
                <a:cs typeface="Times New Roman" pitchFamily="18" charset="0"/>
              </a:rPr>
              <a:t>    Y = np.load('model/Y.txt.npy')</a:t>
            </a:r>
          </a:p>
          <a:p>
            <a:pPr marL="0" indent="0">
              <a:buNone/>
            </a:pPr>
            <a:r>
              <a:rPr lang="en-IN" sz="1800" dirty="0">
                <a:latin typeface="Times New Roman" pitchFamily="18" charset="0"/>
                <a:cs typeface="Times New Roman" pitchFamily="18" charset="0"/>
              </a:rPr>
              <a:t>else:</a:t>
            </a:r>
          </a:p>
          <a:p>
            <a:pPr marL="0" indent="0">
              <a:buNone/>
            </a:pPr>
            <a:r>
              <a:rPr lang="en-IN" sz="1800" dirty="0">
                <a:latin typeface="Times New Roman" pitchFamily="18" charset="0"/>
                <a:cs typeface="Times New Roman" pitchFamily="18" charset="0"/>
              </a:rPr>
              <a:t>    X = []</a:t>
            </a:r>
          </a:p>
          <a:p>
            <a:pPr marL="0" indent="0">
              <a:buNone/>
            </a:pPr>
            <a:r>
              <a:rPr lang="en-IN" sz="1800" dirty="0">
                <a:latin typeface="Times New Roman" pitchFamily="18" charset="0"/>
                <a:cs typeface="Times New Roman" pitchFamily="18" charset="0"/>
              </a:rPr>
              <a:t>    Y = []</a:t>
            </a:r>
          </a:p>
          <a:p>
            <a:pPr marL="0" indent="0">
              <a:buNone/>
            </a:pPr>
            <a:r>
              <a:rPr lang="en-IN" sz="1800" dirty="0">
                <a:latin typeface="Times New Roman" pitchFamily="18" charset="0"/>
                <a:cs typeface="Times New Roman" pitchFamily="18" charset="0"/>
              </a:rPr>
              <a:t>    for root, dirs, directory in os.walk('Dataset'): #loop all files from dataset folder</a:t>
            </a:r>
          </a:p>
          <a:p>
            <a:pPr marL="0" indent="0">
              <a:buNone/>
            </a:pPr>
            <a:r>
              <a:rPr lang="en-IN" sz="1800" dirty="0">
                <a:latin typeface="Times New Roman" pitchFamily="18" charset="0"/>
                <a:cs typeface="Times New Roman" pitchFamily="18" charset="0"/>
              </a:rPr>
              <a:t>        for j in range(len(directory)):</a:t>
            </a:r>
          </a:p>
          <a:p>
            <a:pPr marL="0" indent="0">
              <a:buNone/>
            </a:pPr>
            <a:r>
              <a:rPr lang="en-IN" sz="1800" dirty="0">
                <a:latin typeface="Times New Roman" pitchFamily="18" charset="0"/>
                <a:cs typeface="Times New Roman" pitchFamily="18" charset="0"/>
              </a:rPr>
              <a:t>            name = os.path.basename(root)</a:t>
            </a:r>
          </a:p>
          <a:p>
            <a:pPr marL="0" indent="0">
              <a:buNone/>
            </a:pPr>
            <a:r>
              <a:rPr lang="en-US" sz="1800" dirty="0">
                <a:latin typeface="Times New Roman" pitchFamily="18" charset="0"/>
                <a:cs typeface="Times New Roman" pitchFamily="18" charset="0"/>
              </a:rPr>
              <a:t>           print(name+" "+root+"/"+directory[j])</a:t>
            </a:r>
          </a:p>
          <a:p>
            <a:pPr marL="0" indent="0">
              <a:buNone/>
            </a:pPr>
            <a:endParaRPr lang="en-US" sz="18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16</a:t>
            </a:fld>
            <a:endParaRPr lang="en-IN" dirty="0"/>
          </a:p>
        </p:txBody>
      </p:sp>
    </p:spTree>
    <p:extLst>
      <p:ext uri="{BB962C8B-B14F-4D97-AF65-F5344CB8AC3E}">
        <p14:creationId xmlns:p14="http://schemas.microsoft.com/office/powerpoint/2010/main" val="1878969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88900"/>
            <a:ext cx="11861800" cy="6642100"/>
          </a:xfrm>
        </p:spPr>
        <p:txBody>
          <a:bodyPr>
            <a:normAutofit fontScale="85000" lnSpcReduction="10000"/>
          </a:bodyPr>
          <a:lstStyle/>
          <a:p>
            <a:pPr marL="0" indent="0">
              <a:buNone/>
            </a:pPr>
            <a:r>
              <a:rPr lang="en-IN" dirty="0">
                <a:latin typeface="Times New Roman" pitchFamily="18" charset="0"/>
                <a:cs typeface="Times New Roman" pitchFamily="18" charset="0"/>
              </a:rPr>
              <a:t>if 'Thumbs.db' not in directory[j]:</a:t>
            </a:r>
          </a:p>
          <a:p>
            <a:pPr marL="0" indent="0">
              <a:buNone/>
            </a:pPr>
            <a:r>
              <a:rPr lang="en-IN" dirty="0">
                <a:latin typeface="Times New Roman" pitchFamily="18" charset="0"/>
                <a:cs typeface="Times New Roman" pitchFamily="18" charset="0"/>
              </a:rPr>
              <a:t>                img = cv2.imread(root+"/"+directory[j]) </a:t>
            </a:r>
            <a:r>
              <a:rPr lang="en-IN" dirty="0">
                <a:solidFill>
                  <a:schemeClr val="accent1"/>
                </a:solidFill>
                <a:latin typeface="Times New Roman" pitchFamily="18" charset="0"/>
                <a:cs typeface="Times New Roman" pitchFamily="18" charset="0"/>
              </a:rPr>
              <a:t>#read image from given dataset directory</a:t>
            </a:r>
          </a:p>
          <a:p>
            <a:pPr marL="0" indent="0">
              <a:buNone/>
            </a:pPr>
            <a:r>
              <a:rPr lang="en-IN" dirty="0">
                <a:latin typeface="Times New Roman" pitchFamily="18" charset="0"/>
                <a:cs typeface="Times New Roman" pitchFamily="18" charset="0"/>
              </a:rPr>
              <a:t>                img = cv2.resize(img, (80,80))</a:t>
            </a:r>
          </a:p>
          <a:p>
            <a:pPr marL="0" indent="0">
              <a:buNone/>
            </a:pPr>
            <a:r>
              <a:rPr lang="en-IN" dirty="0">
                <a:latin typeface="Times New Roman" pitchFamily="18" charset="0"/>
                <a:cs typeface="Times New Roman" pitchFamily="18" charset="0"/>
              </a:rPr>
              <a:t>                im2arr = np.array(img)</a:t>
            </a:r>
          </a:p>
          <a:p>
            <a:pPr marL="0" indent="0">
              <a:buNone/>
            </a:pPr>
            <a:r>
              <a:rPr lang="en-IN" dirty="0">
                <a:latin typeface="Times New Roman" pitchFamily="18" charset="0"/>
                <a:cs typeface="Times New Roman" pitchFamily="18" charset="0"/>
              </a:rPr>
              <a:t>                im2arr = im2arr.reshape(80,80,3)</a:t>
            </a:r>
            <a:r>
              <a:rPr lang="en-IN" dirty="0">
                <a:solidFill>
                  <a:schemeClr val="accent1"/>
                </a:solidFill>
                <a:latin typeface="Times New Roman" pitchFamily="18" charset="0"/>
                <a:cs typeface="Times New Roman" pitchFamily="18" charset="0"/>
              </a:rPr>
              <a:t> #resize image</a:t>
            </a:r>
          </a:p>
          <a:p>
            <a:pPr marL="0" indent="0">
              <a:buNone/>
            </a:pPr>
            <a:r>
              <a:rPr lang="en-IN" dirty="0">
                <a:latin typeface="Times New Roman" pitchFamily="18" charset="0"/>
                <a:cs typeface="Times New Roman" pitchFamily="18" charset="0"/>
              </a:rPr>
              <a:t>                X_train.append(im2arr) </a:t>
            </a:r>
            <a:r>
              <a:rPr lang="en-IN" dirty="0">
                <a:solidFill>
                  <a:schemeClr val="accent1"/>
                </a:solidFill>
                <a:latin typeface="Times New Roman" pitchFamily="18" charset="0"/>
                <a:cs typeface="Times New Roman" pitchFamily="18" charset="0"/>
              </a:rPr>
              <a:t>#add images and labels to the array for training</a:t>
            </a:r>
          </a:p>
          <a:p>
            <a:pPr marL="0" indent="0">
              <a:buNone/>
            </a:pPr>
            <a:r>
              <a:rPr lang="en-IN" dirty="0">
                <a:latin typeface="Times New Roman" pitchFamily="18" charset="0"/>
                <a:cs typeface="Times New Roman" pitchFamily="18" charset="0"/>
              </a:rPr>
              <a:t>                Y_train.append(getID(name)) </a:t>
            </a:r>
            <a:r>
              <a:rPr lang="en-IN" dirty="0">
                <a:solidFill>
                  <a:schemeClr val="accent1"/>
                </a:solidFill>
                <a:latin typeface="Times New Roman" pitchFamily="18" charset="0"/>
                <a:cs typeface="Times New Roman" pitchFamily="18" charset="0"/>
              </a:rPr>
              <a:t>#get the label for the image        </a:t>
            </a:r>
          </a:p>
          <a:p>
            <a:pPr marL="0" indent="0">
              <a:buNone/>
            </a:pPr>
            <a:r>
              <a:rPr lang="en-IN" dirty="0">
                <a:latin typeface="Times New Roman" pitchFamily="18" charset="0"/>
                <a:cs typeface="Times New Roman" pitchFamily="18" charset="0"/>
              </a:rPr>
              <a:t>    X_train = np.asarray(X_train)  </a:t>
            </a:r>
            <a:r>
              <a:rPr lang="en-IN" dirty="0">
                <a:solidFill>
                  <a:schemeClr val="accent1"/>
                </a:solidFill>
                <a:latin typeface="Times New Roman" pitchFamily="18" charset="0"/>
                <a:cs typeface="Times New Roman" pitchFamily="18" charset="0"/>
              </a:rPr>
              <a:t>#convert images and labels to numpy array</a:t>
            </a:r>
          </a:p>
          <a:p>
            <a:pPr marL="0" indent="0">
              <a:buNone/>
            </a:pPr>
            <a:r>
              <a:rPr lang="en-IN" dirty="0">
                <a:latin typeface="Times New Roman" pitchFamily="18" charset="0"/>
                <a:cs typeface="Times New Roman" pitchFamily="18" charset="0"/>
              </a:rPr>
              <a:t>    Y_train = np.asarray(Y_train)</a:t>
            </a:r>
          </a:p>
          <a:p>
            <a:pPr marL="0" indent="0">
              <a:buNone/>
            </a:pPr>
            <a:r>
              <a:rPr lang="en-IN" dirty="0">
                <a:latin typeface="Times New Roman" pitchFamily="18" charset="0"/>
                <a:cs typeface="Times New Roman" pitchFamily="18" charset="0"/>
              </a:rPr>
              <a:t>    np.save('model/X.txt',X_train)  </a:t>
            </a:r>
            <a:r>
              <a:rPr lang="en-IN" dirty="0">
                <a:solidFill>
                  <a:schemeClr val="accent1"/>
                </a:solidFill>
                <a:latin typeface="Times New Roman" pitchFamily="18" charset="0"/>
                <a:cs typeface="Times New Roman" pitchFamily="18" charset="0"/>
              </a:rPr>
              <a:t>#save the images</a:t>
            </a:r>
          </a:p>
          <a:p>
            <a:pPr marL="0" indent="0">
              <a:buNone/>
            </a:pPr>
            <a:r>
              <a:rPr lang="en-IN" dirty="0">
                <a:latin typeface="Times New Roman" pitchFamily="18" charset="0"/>
                <a:cs typeface="Times New Roman" pitchFamily="18" charset="0"/>
              </a:rPr>
              <a:t>    np.save('model/Y.txt',Y_train)</a:t>
            </a:r>
          </a:p>
          <a:p>
            <a:pPr marL="0" indent="0">
              <a:buNone/>
            </a:pPr>
            <a:r>
              <a:rPr lang="en-IN" dirty="0">
                <a:latin typeface="Times New Roman" pitchFamily="18" charset="0"/>
                <a:cs typeface="Times New Roman" pitchFamily="18" charset="0"/>
              </a:rPr>
              <a:t>print()    </a:t>
            </a:r>
          </a:p>
          <a:p>
            <a:pPr marL="0" indent="0">
              <a:buNone/>
            </a:pPr>
            <a:r>
              <a:rPr lang="en-IN" dirty="0">
                <a:latin typeface="Times New Roman" pitchFamily="18" charset="0"/>
                <a:cs typeface="Times New Roman" pitchFamily="18" charset="0"/>
              </a:rPr>
              <a:t>print("Total images found in dataset : "+str(X.shape[0]))</a:t>
            </a:r>
          </a:p>
          <a:p>
            <a:pPr marL="0" indent="0">
              <a:buNone/>
            </a:pPr>
            <a:r>
              <a:rPr lang="en-IN" dirty="0">
                <a:latin typeface="Times New Roman" pitchFamily="18" charset="0"/>
                <a:cs typeface="Times New Roman" pitchFamily="18" charset="0"/>
              </a:rPr>
              <a:t>print()</a:t>
            </a:r>
          </a:p>
          <a:p>
            <a:pPr marL="0" indent="0">
              <a:buNone/>
            </a:pPr>
            <a:r>
              <a:rPr lang="en-IN" dirty="0">
                <a:latin typeface="Times New Roman" pitchFamily="18" charset="0"/>
                <a:cs typeface="Times New Roman" pitchFamily="18" charset="0"/>
              </a:rPr>
              <a:t>unique, count = np.unique(Y, return_counts = True)  </a:t>
            </a:r>
            <a:r>
              <a:rPr lang="en-IN" dirty="0">
                <a:solidFill>
                  <a:schemeClr val="accent1"/>
                </a:solidFill>
                <a:latin typeface="Times New Roman" pitchFamily="18" charset="0"/>
                <a:cs typeface="Times New Roman" pitchFamily="18" charset="0"/>
              </a:rPr>
              <a:t>#find different class labels count and plot the graph</a:t>
            </a:r>
          </a:p>
          <a:p>
            <a:pPr marL="0" indent="0">
              <a:buNone/>
            </a:pPr>
            <a:r>
              <a:rPr lang="en-IN" dirty="0">
                <a:latin typeface="Times New Roman" pitchFamily="18" charset="0"/>
                <a:cs typeface="Times New Roman" pitchFamily="18" charset="0"/>
              </a:rPr>
              <a:t>height = count</a:t>
            </a:r>
          </a:p>
          <a:p>
            <a:pPr marL="0" indent="0">
              <a:buNone/>
            </a:pPr>
            <a:r>
              <a:rPr lang="en-IN" dirty="0">
                <a:latin typeface="Times New Roman" pitchFamily="18" charset="0"/>
                <a:cs typeface="Times New Roman" pitchFamily="18" charset="0"/>
              </a:rPr>
              <a:t>bars = classes</a:t>
            </a:r>
          </a:p>
          <a:p>
            <a:pPr marL="0" indent="0">
              <a:buNone/>
            </a:pPr>
            <a:r>
              <a:rPr lang="en-IN" dirty="0">
                <a:latin typeface="Times New Roman" pitchFamily="18" charset="0"/>
                <a:cs typeface="Times New Roman" pitchFamily="18" charset="0"/>
              </a:rPr>
              <a:t>y_pos = np.arange(len(bars))</a:t>
            </a:r>
          </a:p>
          <a:p>
            <a:pPr marL="0" indent="0">
              <a:buNone/>
            </a:pPr>
            <a:r>
              <a:rPr lang="en-IN" dirty="0">
                <a:latin typeface="Times New Roman" pitchFamily="18" charset="0"/>
                <a:cs typeface="Times New Roman" pitchFamily="18" charset="0"/>
              </a:rPr>
              <a:t>plt.bar(y_pos, height)</a:t>
            </a:r>
          </a:p>
          <a:p>
            <a:pPr marL="0" indent="0">
              <a:buNone/>
            </a:pPr>
            <a:r>
              <a:rPr lang="en-IN" dirty="0">
                <a:latin typeface="Times New Roman" pitchFamily="18" charset="0"/>
                <a:cs typeface="Times New Roman" pitchFamily="18" charset="0"/>
              </a:rPr>
              <a:t>plt.xticks(y_pos, bars)</a:t>
            </a: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17</a:t>
            </a:fld>
            <a:endParaRPr lang="en-IN" dirty="0"/>
          </a:p>
        </p:txBody>
      </p:sp>
    </p:spTree>
    <p:extLst>
      <p:ext uri="{BB962C8B-B14F-4D97-AF65-F5344CB8AC3E}">
        <p14:creationId xmlns:p14="http://schemas.microsoft.com/office/powerpoint/2010/main" val="4063767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idx="1"/>
          </p:nvPr>
        </p:nvSpPr>
        <p:spPr>
          <a:xfrm>
            <a:off x="279400" y="254000"/>
            <a:ext cx="11645900" cy="6350000"/>
          </a:xfrm>
        </p:spPr>
        <p:txBody>
          <a:bodyPr>
            <a:normAutofit/>
          </a:bodyPr>
          <a:lstStyle/>
          <a:p>
            <a:pPr marL="0" indent="0">
              <a:buNone/>
            </a:pPr>
            <a:r>
              <a:rPr lang="en-US" sz="2000" dirty="0">
                <a:latin typeface="Times New Roman" pitchFamily="18" charset="0"/>
                <a:cs typeface="Times New Roman" pitchFamily="18" charset="0"/>
              </a:rPr>
              <a:t>plt.xticks(rotation=90)</a:t>
            </a:r>
          </a:p>
          <a:p>
            <a:pPr marL="0" indent="0">
              <a:buNone/>
            </a:pPr>
            <a:r>
              <a:rPr lang="en-US" sz="2000" dirty="0">
                <a:latin typeface="Times New Roman" pitchFamily="18" charset="0"/>
                <a:cs typeface="Times New Roman" pitchFamily="18" charset="0"/>
              </a:rPr>
              <a:t>plt.title("Count of Different Currency Images Found in Dataset")</a:t>
            </a:r>
          </a:p>
          <a:p>
            <a:pPr marL="0" indent="0">
              <a:buNone/>
            </a:pPr>
            <a:r>
              <a:rPr lang="en-US" sz="2000" dirty="0">
                <a:latin typeface="Times New Roman" pitchFamily="18" charset="0"/>
                <a:cs typeface="Times New Roman" pitchFamily="18" charset="0"/>
              </a:rPr>
              <a:t>plt.show()</a:t>
            </a:r>
          </a:p>
          <a:p>
            <a:pPr marL="0" indent="0">
              <a:buNone/>
            </a:pPr>
            <a:endParaRPr lang="en-US" sz="2000" dirty="0">
              <a:latin typeface="Times New Roman"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18</a:t>
            </a:fld>
            <a:endParaRPr lang="en-IN"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3601" y="1536701"/>
            <a:ext cx="6591300" cy="5321299"/>
          </a:xfrm>
          <a:prstGeom prst="rect">
            <a:avLst/>
          </a:prstGeom>
        </p:spPr>
      </p:pic>
    </p:spTree>
    <p:extLst>
      <p:ext uri="{BB962C8B-B14F-4D97-AF65-F5344CB8AC3E}">
        <p14:creationId xmlns:p14="http://schemas.microsoft.com/office/powerpoint/2010/main" val="980753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200" y="127000"/>
            <a:ext cx="11785600" cy="6629400"/>
          </a:xfrm>
        </p:spPr>
        <p:txBody>
          <a:bodyPr>
            <a:normAutofit lnSpcReduction="10000"/>
          </a:bodyPr>
          <a:lstStyle/>
          <a:p>
            <a:pPr marL="0" indent="0">
              <a:buNone/>
            </a:pPr>
            <a:r>
              <a:rPr lang="en-IN" sz="1800" dirty="0">
                <a:latin typeface="Times New Roman" pitchFamily="18" charset="0"/>
                <a:cs typeface="Times New Roman" pitchFamily="18" charset="0"/>
              </a:rPr>
              <a:t>X = X.astype('float32</a:t>
            </a:r>
            <a:r>
              <a:rPr lang="en-IN" sz="1800" dirty="0">
                <a:solidFill>
                  <a:schemeClr val="accent1"/>
                </a:solidFill>
                <a:latin typeface="Times New Roman" pitchFamily="18" charset="0"/>
                <a:cs typeface="Times New Roman" pitchFamily="18" charset="0"/>
              </a:rPr>
              <a:t>') #converting images  data to float type</a:t>
            </a:r>
          </a:p>
          <a:p>
            <a:pPr marL="0" indent="0">
              <a:buNone/>
            </a:pPr>
            <a:r>
              <a:rPr lang="en-IN" sz="1800" dirty="0">
                <a:latin typeface="Times New Roman" pitchFamily="18" charset="0"/>
                <a:cs typeface="Times New Roman" pitchFamily="18" charset="0"/>
              </a:rPr>
              <a:t>X = X/255 </a:t>
            </a:r>
            <a:r>
              <a:rPr lang="en-IN" sz="1800" dirty="0">
                <a:solidFill>
                  <a:schemeClr val="accent1"/>
                </a:solidFill>
                <a:latin typeface="Times New Roman" pitchFamily="18" charset="0"/>
                <a:cs typeface="Times New Roman" pitchFamily="18" charset="0"/>
              </a:rPr>
              <a:t>#normalizing pixel values</a:t>
            </a:r>
          </a:p>
          <a:p>
            <a:pPr marL="0" indent="0">
              <a:buNone/>
            </a:pPr>
            <a:r>
              <a:rPr lang="en-IN" sz="1800" dirty="0">
                <a:latin typeface="Times New Roman" pitchFamily="18" charset="0"/>
                <a:cs typeface="Times New Roman" pitchFamily="18" charset="0"/>
              </a:rPr>
              <a:t>indices = np.arange(X.shape[0])</a:t>
            </a:r>
          </a:p>
          <a:p>
            <a:pPr marL="0" indent="0">
              <a:buNone/>
            </a:pPr>
            <a:r>
              <a:rPr lang="en-IN" sz="1800" dirty="0">
                <a:latin typeface="Times New Roman" pitchFamily="18" charset="0"/>
                <a:cs typeface="Times New Roman" pitchFamily="18" charset="0"/>
              </a:rPr>
              <a:t>np.random.shuffle(indices</a:t>
            </a:r>
            <a:r>
              <a:rPr lang="en-IN" sz="1800" dirty="0">
                <a:solidFill>
                  <a:schemeClr val="accent1"/>
                </a:solidFill>
                <a:latin typeface="Times New Roman" pitchFamily="18" charset="0"/>
                <a:cs typeface="Times New Roman" pitchFamily="18" charset="0"/>
              </a:rPr>
              <a:t>) #shuffling the dataset</a:t>
            </a:r>
          </a:p>
          <a:p>
            <a:pPr marL="0" indent="0">
              <a:buNone/>
            </a:pPr>
            <a:r>
              <a:rPr lang="en-IN" sz="1800" dirty="0">
                <a:latin typeface="Times New Roman" pitchFamily="18" charset="0"/>
                <a:cs typeface="Times New Roman" pitchFamily="18" charset="0"/>
              </a:rPr>
              <a:t>X = X[indices]</a:t>
            </a:r>
          </a:p>
          <a:p>
            <a:pPr marL="0" indent="0">
              <a:buNone/>
            </a:pPr>
            <a:r>
              <a:rPr lang="en-IN" sz="1800" dirty="0">
                <a:latin typeface="Times New Roman" pitchFamily="18" charset="0"/>
                <a:cs typeface="Times New Roman" pitchFamily="18" charset="0"/>
              </a:rPr>
              <a:t>Y = Y[indices]</a:t>
            </a:r>
          </a:p>
          <a:p>
            <a:pPr marL="0" indent="0">
              <a:buNone/>
            </a:pPr>
            <a:r>
              <a:rPr lang="en-IN" sz="1800" dirty="0">
                <a:latin typeface="Times New Roman" pitchFamily="18" charset="0"/>
                <a:cs typeface="Times New Roman" pitchFamily="18" charset="0"/>
              </a:rPr>
              <a:t>Y = to_categorical(Y</a:t>
            </a:r>
            <a:r>
              <a:rPr lang="en-IN" sz="1800" dirty="0">
                <a:solidFill>
                  <a:schemeClr val="accent1"/>
                </a:solidFill>
                <a:latin typeface="Times New Roman" pitchFamily="18" charset="0"/>
                <a:cs typeface="Times New Roman" pitchFamily="18" charset="0"/>
              </a:rPr>
              <a:t>) #converting binary to categorical labels</a:t>
            </a:r>
          </a:p>
          <a:p>
            <a:pPr marL="0" indent="0">
              <a:buNone/>
            </a:pPr>
            <a:r>
              <a:rPr lang="en-IN" sz="1800" dirty="0">
                <a:latin typeface="Times New Roman" pitchFamily="18" charset="0"/>
                <a:cs typeface="Times New Roman" pitchFamily="18" charset="0"/>
              </a:rPr>
              <a:t>X_train, X_test, y_train, y_test = train_test_split(X, Y, test_size=0.2</a:t>
            </a:r>
            <a:r>
              <a:rPr lang="en-IN" sz="1800" dirty="0">
                <a:solidFill>
                  <a:schemeClr val="accent1"/>
                </a:solidFill>
                <a:latin typeface="Times New Roman" pitchFamily="18" charset="0"/>
                <a:cs typeface="Times New Roman" pitchFamily="18" charset="0"/>
              </a:rPr>
              <a:t>) #split dataset into train and test</a:t>
            </a:r>
          </a:p>
          <a:p>
            <a:pPr marL="0" indent="0">
              <a:buNone/>
            </a:pPr>
            <a:r>
              <a:rPr lang="en-IN" sz="1800" dirty="0">
                <a:latin typeface="Times New Roman" pitchFamily="18" charset="0"/>
                <a:cs typeface="Times New Roman" pitchFamily="18" charset="0"/>
              </a:rPr>
              <a:t>print("Total images found in dataset: "+str(X.shape[0]))</a:t>
            </a:r>
          </a:p>
          <a:p>
            <a:pPr marL="0" indent="0">
              <a:buNone/>
            </a:pPr>
            <a:r>
              <a:rPr lang="en-IN" sz="1800" dirty="0">
                <a:latin typeface="Times New Roman" pitchFamily="18" charset="0"/>
                <a:cs typeface="Times New Roman" pitchFamily="18" charset="0"/>
              </a:rPr>
              <a:t>print("Dataset train &amp; test split details")</a:t>
            </a:r>
          </a:p>
          <a:p>
            <a:pPr marL="0" indent="0">
              <a:buNone/>
            </a:pPr>
            <a:r>
              <a:rPr lang="en-IN" sz="1800" dirty="0">
                <a:latin typeface="Times New Roman" pitchFamily="18" charset="0"/>
                <a:cs typeface="Times New Roman" pitchFamily="18" charset="0"/>
              </a:rPr>
              <a:t>print("80% images used to train the model: "+str(X_train.shape[0]))</a:t>
            </a:r>
          </a:p>
          <a:p>
            <a:pPr marL="0" indent="0">
              <a:buNone/>
            </a:pPr>
            <a:r>
              <a:rPr lang="en-IN" sz="1800" dirty="0">
                <a:latin typeface="Times New Roman" pitchFamily="18" charset="0"/>
                <a:cs typeface="Times New Roman" pitchFamily="18" charset="0"/>
              </a:rPr>
              <a:t>print("20% images used to test the model : "+str(X_test.shape[0]))</a:t>
            </a:r>
          </a:p>
          <a:p>
            <a:pPr marL="0" indent="0">
              <a:buNone/>
            </a:pPr>
            <a:r>
              <a:rPr lang="en-IN" sz="1800" dirty="0">
                <a:latin typeface="Times New Roman" pitchFamily="18" charset="0"/>
                <a:cs typeface="Times New Roman" pitchFamily="18" charset="0"/>
              </a:rPr>
              <a:t>print()</a:t>
            </a:r>
          </a:p>
          <a:p>
            <a:pPr marL="0" indent="0">
              <a:buNone/>
            </a:pPr>
            <a:endParaRPr lang="en-US" sz="1600" dirty="0">
              <a:latin typeface="Times New Roman" pitchFamily="18" charset="0"/>
              <a:cs typeface="Times New Roman" pitchFamily="18" charset="0"/>
            </a:endParaRPr>
          </a:p>
          <a:p>
            <a:pPr marL="0" indent="0">
              <a:buNone/>
            </a:pPr>
            <a:r>
              <a:rPr lang="en-US" sz="1600" b="1" dirty="0">
                <a:latin typeface="Times New Roman" pitchFamily="18" charset="0"/>
                <a:cs typeface="Times New Roman" pitchFamily="18" charset="0"/>
              </a:rPr>
              <a:t>Total images found in dataset: 178</a:t>
            </a:r>
          </a:p>
          <a:p>
            <a:pPr marL="0" indent="0">
              <a:buNone/>
            </a:pPr>
            <a:r>
              <a:rPr lang="en-US" sz="1600" b="1" dirty="0">
                <a:latin typeface="Times New Roman" pitchFamily="18" charset="0"/>
                <a:cs typeface="Times New Roman" pitchFamily="18" charset="0"/>
              </a:rPr>
              <a:t>Dataset train &amp; test split details </a:t>
            </a:r>
          </a:p>
          <a:p>
            <a:pPr marL="0" indent="0">
              <a:buNone/>
            </a:pPr>
            <a:r>
              <a:rPr lang="en-US" sz="1600" b="1" dirty="0">
                <a:latin typeface="Times New Roman" pitchFamily="18" charset="0"/>
                <a:cs typeface="Times New Roman" pitchFamily="18" charset="0"/>
              </a:rPr>
              <a:t>80% images used to train the model: 142 </a:t>
            </a:r>
          </a:p>
          <a:p>
            <a:pPr marL="0" indent="0">
              <a:buNone/>
            </a:pPr>
            <a:r>
              <a:rPr lang="en-US" sz="1600" b="1" dirty="0">
                <a:latin typeface="Times New Roman" pitchFamily="18" charset="0"/>
                <a:cs typeface="Times New Roman" pitchFamily="18" charset="0"/>
              </a:rPr>
              <a:t>20% images used to test the model : 36</a:t>
            </a:r>
            <a:endParaRPr lang="en-IN" sz="1600" b="1"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19</a:t>
            </a:fld>
            <a:endParaRPr lang="en-IN" dirty="0"/>
          </a:p>
        </p:txBody>
      </p:sp>
    </p:spTree>
    <p:extLst>
      <p:ext uri="{BB962C8B-B14F-4D97-AF65-F5344CB8AC3E}">
        <p14:creationId xmlns:p14="http://schemas.microsoft.com/office/powerpoint/2010/main" val="2287002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8300" y="190500"/>
            <a:ext cx="11582400" cy="6388100"/>
          </a:xfrm>
        </p:spPr>
        <p:txBody>
          <a:bodyPr>
            <a:normAutofit/>
          </a:bodyPr>
          <a:lstStyle/>
          <a:p>
            <a:pPr marL="0" indent="0">
              <a:buNone/>
            </a:pPr>
            <a:r>
              <a:rPr lang="en-US" sz="1800" dirty="0">
                <a:latin typeface="Times New Roman" pitchFamily="18" charset="0"/>
                <a:cs typeface="Times New Roman" pitchFamily="18" charset="0"/>
              </a:rPr>
              <a:t>test = X[25] </a:t>
            </a:r>
            <a:r>
              <a:rPr lang="en-US" sz="1800" dirty="0">
                <a:solidFill>
                  <a:schemeClr val="accent1"/>
                </a:solidFill>
                <a:latin typeface="Times New Roman" pitchFamily="18" charset="0"/>
                <a:cs typeface="Times New Roman" pitchFamily="18" charset="0"/>
              </a:rPr>
              <a:t>#read and display one processed normalized image</a:t>
            </a:r>
          </a:p>
          <a:p>
            <a:pPr marL="0" indent="0">
              <a:buNone/>
            </a:pPr>
            <a:r>
              <a:rPr lang="en-US" sz="1800" dirty="0">
                <a:latin typeface="Times New Roman" pitchFamily="18" charset="0"/>
                <a:cs typeface="Times New Roman" pitchFamily="18" charset="0"/>
              </a:rPr>
              <a:t>test = cv2.resize(test, (200,200))</a:t>
            </a:r>
          </a:p>
          <a:p>
            <a:pPr marL="0" indent="0">
              <a:buNone/>
            </a:pPr>
            <a:r>
              <a:rPr lang="en-US" sz="1800" dirty="0">
                <a:latin typeface="Times New Roman" pitchFamily="18" charset="0"/>
                <a:cs typeface="Times New Roman" pitchFamily="18" charset="0"/>
              </a:rPr>
              <a:t>plt.title("Process Sampled Image")</a:t>
            </a:r>
          </a:p>
          <a:p>
            <a:pPr marL="0" indent="0">
              <a:buNone/>
            </a:pPr>
            <a:r>
              <a:rPr lang="en-US" sz="1800" dirty="0">
                <a:latin typeface="Times New Roman" pitchFamily="18" charset="0"/>
                <a:cs typeface="Times New Roman" pitchFamily="18" charset="0"/>
              </a:rPr>
              <a:t>plt.imshow(test)</a:t>
            </a:r>
          </a:p>
          <a:p>
            <a:pPr marL="0" indent="0">
              <a:buNone/>
            </a:pPr>
            <a:r>
              <a:rPr lang="en-US" sz="1800" dirty="0">
                <a:latin typeface="Times New Roman" pitchFamily="18" charset="0"/>
                <a:cs typeface="Times New Roman" pitchFamily="18" charset="0"/>
              </a:rPr>
              <a:t>plt.show()</a:t>
            </a:r>
            <a:endParaRPr lang="en-IN" sz="18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20</a:t>
            </a:fld>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8199" y="2168297"/>
            <a:ext cx="5034223" cy="4105503"/>
          </a:xfrm>
          <a:prstGeom prst="rect">
            <a:avLst/>
          </a:prstGeom>
        </p:spPr>
      </p:pic>
    </p:spTree>
    <p:extLst>
      <p:ext uri="{BB962C8B-B14F-4D97-AF65-F5344CB8AC3E}">
        <p14:creationId xmlns:p14="http://schemas.microsoft.com/office/powerpoint/2010/main" val="1121587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 y="165100"/>
            <a:ext cx="11836400" cy="6692900"/>
          </a:xfrm>
        </p:spPr>
        <p:txBody>
          <a:bodyPr>
            <a:noAutofit/>
          </a:bodyPr>
          <a:lstStyle/>
          <a:p>
            <a:pPr marL="0" indent="0">
              <a:buNone/>
            </a:pPr>
            <a:r>
              <a:rPr lang="en-IN" sz="1600" dirty="0">
                <a:latin typeface="Times New Roman" pitchFamily="18" charset="0"/>
                <a:cs typeface="Times New Roman" pitchFamily="18" charset="0"/>
              </a:rPr>
              <a:t>precision = []</a:t>
            </a:r>
          </a:p>
          <a:p>
            <a:pPr marL="0" indent="0">
              <a:buNone/>
            </a:pPr>
            <a:r>
              <a:rPr lang="en-IN" sz="1600" dirty="0">
                <a:latin typeface="Times New Roman" pitchFamily="18" charset="0"/>
                <a:cs typeface="Times New Roman" pitchFamily="18" charset="0"/>
              </a:rPr>
              <a:t>recall = []</a:t>
            </a:r>
          </a:p>
          <a:p>
            <a:pPr marL="0" indent="0">
              <a:buNone/>
            </a:pPr>
            <a:r>
              <a:rPr lang="en-IN" sz="1600" dirty="0">
                <a:latin typeface="Times New Roman" pitchFamily="18" charset="0"/>
                <a:cs typeface="Times New Roman" pitchFamily="18" charset="0"/>
              </a:rPr>
              <a:t>fscore = []</a:t>
            </a:r>
          </a:p>
          <a:p>
            <a:pPr marL="0" indent="0">
              <a:buNone/>
            </a:pPr>
            <a:r>
              <a:rPr lang="en-IN" sz="1600" dirty="0">
                <a:latin typeface="Times New Roman" pitchFamily="18" charset="0"/>
                <a:cs typeface="Times New Roman" pitchFamily="18" charset="0"/>
              </a:rPr>
              <a:t>accuracy = []</a:t>
            </a:r>
          </a:p>
          <a:p>
            <a:pPr marL="0" indent="0">
              <a:buNone/>
            </a:pPr>
            <a:endParaRPr lang="en-IN" sz="1600" dirty="0">
              <a:latin typeface="Times New Roman" pitchFamily="18" charset="0"/>
              <a:cs typeface="Times New Roman" pitchFamily="18" charset="0"/>
            </a:endParaRPr>
          </a:p>
          <a:p>
            <a:pPr marL="0" indent="0">
              <a:buNone/>
            </a:pPr>
            <a:r>
              <a:rPr lang="en-IN" sz="1800" b="1" dirty="0">
                <a:latin typeface="Times New Roman" pitchFamily="18" charset="0"/>
                <a:cs typeface="Times New Roman" pitchFamily="18" charset="0"/>
              </a:rPr>
              <a:t>#function to calculate different metrics</a:t>
            </a:r>
          </a:p>
          <a:p>
            <a:pPr marL="0" indent="0">
              <a:buNone/>
            </a:pPr>
            <a:r>
              <a:rPr lang="en-IN" sz="1600" dirty="0">
                <a:latin typeface="Times New Roman" pitchFamily="18" charset="0"/>
                <a:cs typeface="Times New Roman" pitchFamily="18" charset="0"/>
              </a:rPr>
              <a:t>def calculateMetrics(algorithm, predict, target):</a:t>
            </a:r>
          </a:p>
          <a:p>
            <a:pPr marL="0" indent="0">
              <a:buNone/>
            </a:pPr>
            <a:r>
              <a:rPr lang="en-IN" sz="1600" dirty="0">
                <a:latin typeface="Times New Roman" pitchFamily="18" charset="0"/>
                <a:cs typeface="Times New Roman" pitchFamily="18" charset="0"/>
              </a:rPr>
              <a:t>    acc = accuracy_score(target,predict)*100</a:t>
            </a:r>
          </a:p>
          <a:p>
            <a:pPr marL="0" indent="0">
              <a:buNone/>
            </a:pPr>
            <a:r>
              <a:rPr lang="en-IN" sz="1600" dirty="0">
                <a:latin typeface="Times New Roman" pitchFamily="18" charset="0"/>
                <a:cs typeface="Times New Roman" pitchFamily="18" charset="0"/>
              </a:rPr>
              <a:t>    p = precision_score(target,predict,average='macro') * 100</a:t>
            </a:r>
          </a:p>
          <a:p>
            <a:pPr marL="0" indent="0">
              <a:buNone/>
            </a:pPr>
            <a:r>
              <a:rPr lang="en-IN" sz="1600" dirty="0">
                <a:latin typeface="Times New Roman" pitchFamily="18" charset="0"/>
                <a:cs typeface="Times New Roman" pitchFamily="18" charset="0"/>
              </a:rPr>
              <a:t>    r = recall_score(target,predict,average='macro') * 100</a:t>
            </a:r>
          </a:p>
          <a:p>
            <a:pPr marL="0" indent="0">
              <a:buNone/>
            </a:pPr>
            <a:r>
              <a:rPr lang="en-IN" sz="1600" dirty="0">
                <a:latin typeface="Times New Roman" pitchFamily="18" charset="0"/>
                <a:cs typeface="Times New Roman" pitchFamily="18" charset="0"/>
              </a:rPr>
              <a:t>    f = f1_score(target,predict,average='macro') * 100</a:t>
            </a:r>
          </a:p>
          <a:p>
            <a:pPr marL="0" indent="0">
              <a:buNone/>
            </a:pPr>
            <a:r>
              <a:rPr lang="en-IN" sz="1600" dirty="0">
                <a:latin typeface="Times New Roman" pitchFamily="18" charset="0"/>
                <a:cs typeface="Times New Roman" pitchFamily="18" charset="0"/>
              </a:rPr>
              <a:t>    print(algorithm+" Precision  : "+str(p))</a:t>
            </a:r>
          </a:p>
          <a:p>
            <a:pPr marL="0" indent="0">
              <a:buNone/>
            </a:pPr>
            <a:r>
              <a:rPr lang="en-IN" sz="1600" dirty="0">
                <a:latin typeface="Times New Roman" pitchFamily="18" charset="0"/>
                <a:cs typeface="Times New Roman" pitchFamily="18" charset="0"/>
              </a:rPr>
              <a:t>    print(algorithm+" Recall     : "+str(r))</a:t>
            </a:r>
          </a:p>
          <a:p>
            <a:pPr marL="0" indent="0">
              <a:buNone/>
            </a:pPr>
            <a:r>
              <a:rPr lang="en-IN" sz="1600" dirty="0">
                <a:latin typeface="Times New Roman" pitchFamily="18" charset="0"/>
                <a:cs typeface="Times New Roman" pitchFamily="18" charset="0"/>
              </a:rPr>
              <a:t>    print(algorithm+" F1-Score   : "+str(f))</a:t>
            </a:r>
          </a:p>
          <a:p>
            <a:pPr marL="0" indent="0">
              <a:buNone/>
            </a:pPr>
            <a:r>
              <a:rPr lang="en-IN" sz="1600" dirty="0">
                <a:latin typeface="Times New Roman" pitchFamily="18" charset="0"/>
                <a:cs typeface="Times New Roman" pitchFamily="18" charset="0"/>
              </a:rPr>
              <a:t>    print(algorithm+" Accuracy   : "+str(acc))</a:t>
            </a:r>
          </a:p>
          <a:p>
            <a:pPr marL="0" indent="0">
              <a:buNone/>
            </a:pPr>
            <a:r>
              <a:rPr lang="en-IN" sz="1600" dirty="0">
                <a:latin typeface="Times New Roman" pitchFamily="18" charset="0"/>
                <a:cs typeface="Times New Roman" pitchFamily="18" charset="0"/>
              </a:rPr>
              <a:t>    precision.append(p)</a:t>
            </a:r>
          </a:p>
          <a:p>
            <a:pPr marL="0" indent="0">
              <a:buNone/>
            </a:pPr>
            <a:r>
              <a:rPr lang="en-IN" sz="1600" dirty="0">
                <a:latin typeface="Times New Roman" pitchFamily="18" charset="0"/>
                <a:cs typeface="Times New Roman" pitchFamily="18" charset="0"/>
              </a:rPr>
              <a:t>    accuracy.append(acc)</a:t>
            </a:r>
          </a:p>
          <a:p>
            <a:pPr marL="0" indent="0">
              <a:buNone/>
            </a:pPr>
            <a:r>
              <a:rPr lang="en-IN" sz="1600" dirty="0">
                <a:latin typeface="Times New Roman" pitchFamily="18" charset="0"/>
                <a:cs typeface="Times New Roman" pitchFamily="18" charset="0"/>
              </a:rPr>
              <a:t>    recall.append(r)</a:t>
            </a:r>
          </a:p>
          <a:p>
            <a:pPr marL="0" indent="0">
              <a:buNone/>
            </a:pPr>
            <a:r>
              <a:rPr lang="en-IN" sz="1600" dirty="0">
                <a:latin typeface="Times New Roman" pitchFamily="18" charset="0"/>
                <a:cs typeface="Times New Roman" pitchFamily="18" charset="0"/>
              </a:rPr>
              <a:t>    fscore.append(f)</a:t>
            </a: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21</a:t>
            </a:fld>
            <a:endParaRPr lang="en-IN" dirty="0"/>
          </a:p>
        </p:txBody>
      </p:sp>
    </p:spTree>
    <p:extLst>
      <p:ext uri="{BB962C8B-B14F-4D97-AF65-F5344CB8AC3E}">
        <p14:creationId xmlns:p14="http://schemas.microsoft.com/office/powerpoint/2010/main" val="1819075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idx="1"/>
          </p:nvPr>
        </p:nvSpPr>
        <p:spPr>
          <a:xfrm>
            <a:off x="254000" y="304800"/>
            <a:ext cx="11709400" cy="6400800"/>
          </a:xfrm>
        </p:spPr>
        <p:txBody>
          <a:bodyPr>
            <a:normAutofit lnSpcReduction="10000"/>
          </a:bodyPr>
          <a:lstStyle/>
          <a:p>
            <a:pPr marL="0" indent="0">
              <a:buNone/>
            </a:pPr>
            <a:r>
              <a:rPr lang="en-IN" sz="2000" b="1" dirty="0">
                <a:latin typeface="Times New Roman" pitchFamily="18" charset="0"/>
                <a:cs typeface="Times New Roman" pitchFamily="18" charset="0"/>
              </a:rPr>
              <a:t>#training Resnet50 Model</a:t>
            </a:r>
          </a:p>
          <a:p>
            <a:pPr marL="0" indent="0">
              <a:buNone/>
            </a:pPr>
            <a:r>
              <a:rPr lang="en-IN" sz="1800" dirty="0">
                <a:latin typeface="Times New Roman" pitchFamily="18" charset="0"/>
                <a:cs typeface="Times New Roman" pitchFamily="18" charset="0"/>
              </a:rPr>
              <a:t>XX = np.load('model/X1.txt.npy')</a:t>
            </a:r>
          </a:p>
          <a:p>
            <a:pPr marL="0" indent="0">
              <a:buNone/>
            </a:pPr>
            <a:r>
              <a:rPr lang="en-IN" sz="1800" dirty="0">
                <a:latin typeface="Times New Roman" pitchFamily="18" charset="0"/>
                <a:cs typeface="Times New Roman" pitchFamily="18" charset="0"/>
              </a:rPr>
              <a:t>YY = np.load('model/Y1.txt.npy')</a:t>
            </a:r>
          </a:p>
          <a:p>
            <a:pPr marL="0" indent="0">
              <a:buNone/>
            </a:pPr>
            <a:r>
              <a:rPr lang="en-IN" sz="1800" dirty="0">
                <a:latin typeface="Times New Roman" pitchFamily="18" charset="0"/>
                <a:cs typeface="Times New Roman" pitchFamily="18" charset="0"/>
              </a:rPr>
              <a:t>XX = XX.astype('float32') </a:t>
            </a:r>
            <a:r>
              <a:rPr lang="en-IN" sz="1800" dirty="0">
                <a:solidFill>
                  <a:schemeClr val="accent1"/>
                </a:solidFill>
                <a:latin typeface="Times New Roman" pitchFamily="18" charset="0"/>
                <a:cs typeface="Times New Roman" pitchFamily="18" charset="0"/>
              </a:rPr>
              <a:t>#converting images  data to float type</a:t>
            </a:r>
          </a:p>
          <a:p>
            <a:pPr marL="0" indent="0">
              <a:buNone/>
            </a:pPr>
            <a:r>
              <a:rPr lang="en-IN" sz="1800" dirty="0">
                <a:latin typeface="Times New Roman" pitchFamily="18" charset="0"/>
                <a:cs typeface="Times New Roman" pitchFamily="18" charset="0"/>
              </a:rPr>
              <a:t>XX = XX/255 #normalizing pixel values</a:t>
            </a:r>
          </a:p>
          <a:p>
            <a:pPr marL="0" indent="0">
              <a:buNone/>
            </a:pPr>
            <a:r>
              <a:rPr lang="en-IN" sz="1800" dirty="0">
                <a:latin typeface="Times New Roman" pitchFamily="18" charset="0"/>
                <a:cs typeface="Times New Roman" pitchFamily="18" charset="0"/>
              </a:rPr>
              <a:t>indices = np.arange(XX.shape[0])</a:t>
            </a:r>
          </a:p>
          <a:p>
            <a:pPr marL="0" indent="0">
              <a:buNone/>
            </a:pPr>
            <a:r>
              <a:rPr lang="en-IN" sz="1800" dirty="0">
                <a:latin typeface="Times New Roman" pitchFamily="18" charset="0"/>
                <a:cs typeface="Times New Roman" pitchFamily="18" charset="0"/>
              </a:rPr>
              <a:t>np.random.shuffle(indices) </a:t>
            </a:r>
            <a:r>
              <a:rPr lang="en-IN" sz="1800" dirty="0">
                <a:solidFill>
                  <a:schemeClr val="accent1"/>
                </a:solidFill>
                <a:latin typeface="Times New Roman" pitchFamily="18" charset="0"/>
                <a:cs typeface="Times New Roman" pitchFamily="18" charset="0"/>
              </a:rPr>
              <a:t>#shuffling the dataset</a:t>
            </a:r>
          </a:p>
          <a:p>
            <a:pPr marL="0" indent="0">
              <a:buNone/>
            </a:pPr>
            <a:r>
              <a:rPr lang="en-IN" sz="1800" dirty="0">
                <a:latin typeface="Times New Roman" pitchFamily="18" charset="0"/>
                <a:cs typeface="Times New Roman" pitchFamily="18" charset="0"/>
              </a:rPr>
              <a:t>XX = XX[indices]</a:t>
            </a:r>
          </a:p>
          <a:p>
            <a:pPr marL="0" indent="0">
              <a:buNone/>
            </a:pPr>
            <a:r>
              <a:rPr lang="en-IN" sz="1800" dirty="0">
                <a:latin typeface="Times New Roman" pitchFamily="18" charset="0"/>
                <a:cs typeface="Times New Roman" pitchFamily="18" charset="0"/>
              </a:rPr>
              <a:t>YY = YY[indices]</a:t>
            </a:r>
          </a:p>
          <a:p>
            <a:pPr marL="0" indent="0">
              <a:buNone/>
            </a:pPr>
            <a:r>
              <a:rPr lang="en-IN" sz="1800" dirty="0">
                <a:latin typeface="Times New Roman" pitchFamily="18" charset="0"/>
                <a:cs typeface="Times New Roman" pitchFamily="18" charset="0"/>
              </a:rPr>
              <a:t>YY = to_categorical(YY)</a:t>
            </a:r>
          </a:p>
          <a:p>
            <a:pPr marL="0" indent="0">
              <a:buNone/>
            </a:pPr>
            <a:r>
              <a:rPr lang="en-IN" sz="1800" dirty="0">
                <a:latin typeface="Times New Roman" pitchFamily="18" charset="0"/>
                <a:cs typeface="Times New Roman" pitchFamily="18" charset="0"/>
              </a:rPr>
              <a:t>X_trains, X_tests, y_trains, y_tests = train_test_split(XX, YY, test_size=0.2, random_state = 42)</a:t>
            </a:r>
          </a:p>
          <a:p>
            <a:pPr marL="0" indent="0">
              <a:buNone/>
            </a:pPr>
            <a:r>
              <a:rPr lang="en-IN" sz="1800" dirty="0">
                <a:solidFill>
                  <a:schemeClr val="accent1"/>
                </a:solidFill>
                <a:latin typeface="Times New Roman" pitchFamily="18" charset="0"/>
                <a:cs typeface="Times New Roman" pitchFamily="18" charset="0"/>
              </a:rPr>
              <a:t>#creating resnet object and assigning reference to resnet variable</a:t>
            </a:r>
          </a:p>
          <a:p>
            <a:pPr marL="0" indent="0">
              <a:buNone/>
            </a:pPr>
            <a:r>
              <a:rPr lang="en-IN" sz="1800" dirty="0">
                <a:latin typeface="Times New Roman" pitchFamily="18" charset="0"/>
                <a:cs typeface="Times New Roman" pitchFamily="18" charset="0"/>
              </a:rPr>
              <a:t>resnet = ResNet50(weights='imagenet', include_top=False,input_shape = (X_trains.shape[1] ,X_trains.shape[2],</a:t>
            </a:r>
          </a:p>
          <a:p>
            <a:pPr marL="0" indent="0">
              <a:buNone/>
            </a:pPr>
            <a:r>
              <a:rPr lang="en-IN" sz="1800" dirty="0">
                <a:latin typeface="Times New Roman" pitchFamily="18" charset="0"/>
                <a:cs typeface="Times New Roman" pitchFamily="18" charset="0"/>
              </a:rPr>
              <a:t>X_trains.shape[3]))</a:t>
            </a:r>
          </a:p>
          <a:p>
            <a:pPr marL="0" indent="0">
              <a:buNone/>
            </a:pPr>
            <a:r>
              <a:rPr lang="en-IN" sz="1800" dirty="0">
                <a:latin typeface="Times New Roman" pitchFamily="18" charset="0"/>
                <a:cs typeface="Times New Roman" pitchFamily="18" charset="0"/>
              </a:rPr>
              <a:t>resnet_model = Sequential()</a:t>
            </a:r>
          </a:p>
          <a:p>
            <a:pPr marL="0" indent="0">
              <a:buNone/>
            </a:pPr>
            <a:r>
              <a:rPr lang="en-IN" sz="1800" dirty="0">
                <a:latin typeface="Times New Roman" pitchFamily="18" charset="0"/>
                <a:cs typeface="Times New Roman" pitchFamily="18" charset="0"/>
              </a:rPr>
              <a:t>resnet_model.add(resnet)  </a:t>
            </a:r>
            <a:r>
              <a:rPr lang="en-IN" sz="1800" dirty="0">
                <a:solidFill>
                  <a:schemeClr val="accent1"/>
                </a:solidFill>
                <a:latin typeface="Times New Roman" pitchFamily="18" charset="0"/>
                <a:cs typeface="Times New Roman" pitchFamily="18" charset="0"/>
              </a:rPr>
              <a:t>#adding resnet to own layers as transfer learning</a:t>
            </a: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22</a:t>
            </a:fld>
            <a:endParaRPr lang="en-IN" dirty="0"/>
          </a:p>
        </p:txBody>
      </p:sp>
    </p:spTree>
    <p:extLst>
      <p:ext uri="{BB962C8B-B14F-4D97-AF65-F5344CB8AC3E}">
        <p14:creationId xmlns:p14="http://schemas.microsoft.com/office/powerpoint/2010/main" val="30072239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idx="1"/>
          </p:nvPr>
        </p:nvSpPr>
        <p:spPr>
          <a:xfrm>
            <a:off x="330200" y="190500"/>
            <a:ext cx="11684000" cy="6540500"/>
          </a:xfrm>
        </p:spPr>
        <p:txBody>
          <a:bodyPr>
            <a:normAutofit lnSpcReduction="10000"/>
          </a:bodyPr>
          <a:lstStyle/>
          <a:p>
            <a:pPr marL="0" indent="0">
              <a:buNone/>
            </a:pPr>
            <a:r>
              <a:rPr lang="en-IN" sz="1800" dirty="0">
                <a:latin typeface="Times New Roman" pitchFamily="18" charset="0"/>
                <a:cs typeface="Times New Roman" pitchFamily="18" charset="0"/>
              </a:rPr>
              <a:t>resnet_model.add(Conv2D(filters=16, kernel_size=1, input_shape=(X_trains.shape[1], X_trains.shape[2], </a:t>
            </a:r>
          </a:p>
          <a:p>
            <a:pPr marL="0" indent="0">
              <a:buNone/>
            </a:pPr>
            <a:r>
              <a:rPr lang="en-IN" sz="1800" dirty="0">
                <a:latin typeface="Times New Roman" pitchFamily="18" charset="0"/>
                <a:cs typeface="Times New Roman" pitchFamily="18" charset="0"/>
              </a:rPr>
              <a:t>X_trains.shape[3]), activation='relu'))</a:t>
            </a:r>
          </a:p>
          <a:p>
            <a:pPr marL="0" indent="0">
              <a:buNone/>
            </a:pPr>
            <a:r>
              <a:rPr lang="en-IN" sz="1800" dirty="0">
                <a:latin typeface="Times New Roman" pitchFamily="18" charset="0"/>
                <a:cs typeface="Times New Roman" pitchFamily="18" charset="0"/>
              </a:rPr>
              <a:t>resnet_model.add(MaxPooling2D(pool_size=1))</a:t>
            </a:r>
          </a:p>
          <a:p>
            <a:pPr marL="0" indent="0">
              <a:buNone/>
            </a:pPr>
            <a:r>
              <a:rPr lang="en-IN" sz="1800" dirty="0">
                <a:latin typeface="Times New Roman" pitchFamily="18" charset="0"/>
                <a:cs typeface="Times New Roman" pitchFamily="18" charset="0"/>
              </a:rPr>
              <a:t>resnet_model.add(Dropout(0.2))</a:t>
            </a:r>
          </a:p>
          <a:p>
            <a:pPr marL="0" indent="0">
              <a:buNone/>
            </a:pPr>
            <a:r>
              <a:rPr lang="en-IN" sz="1800" dirty="0">
                <a:latin typeface="Times New Roman" pitchFamily="18" charset="0"/>
                <a:cs typeface="Times New Roman" pitchFamily="18" charset="0"/>
              </a:rPr>
              <a:t>resnet_model.add(Conv2D(filters=32, kernel_size=1, activation='relu'))</a:t>
            </a:r>
          </a:p>
          <a:p>
            <a:pPr marL="0" indent="0">
              <a:buNone/>
            </a:pPr>
            <a:r>
              <a:rPr lang="en-IN" sz="1800" dirty="0">
                <a:latin typeface="Times New Roman" pitchFamily="18" charset="0"/>
                <a:cs typeface="Times New Roman" pitchFamily="18" charset="0"/>
              </a:rPr>
              <a:t>resnet_model.add(MaxPooling2D(pool_size=1))</a:t>
            </a:r>
          </a:p>
          <a:p>
            <a:pPr marL="0" indent="0">
              <a:buNone/>
            </a:pPr>
            <a:r>
              <a:rPr lang="en-IN" sz="1800" dirty="0">
                <a:latin typeface="Times New Roman" pitchFamily="18" charset="0"/>
                <a:cs typeface="Times New Roman" pitchFamily="18" charset="0"/>
              </a:rPr>
              <a:t>resnet_model.add(Dropout(0.2))</a:t>
            </a:r>
          </a:p>
          <a:p>
            <a:pPr marL="0" indent="0">
              <a:buNone/>
            </a:pPr>
            <a:r>
              <a:rPr lang="en-IN" sz="1800" dirty="0">
                <a:latin typeface="Times New Roman" pitchFamily="18" charset="0"/>
                <a:cs typeface="Times New Roman" pitchFamily="18" charset="0"/>
              </a:rPr>
              <a:t>resnet_model.add(Conv2D(filters=64, kernel_size=1, activation='relu'))</a:t>
            </a:r>
          </a:p>
          <a:p>
            <a:pPr marL="0" indent="0">
              <a:buNone/>
            </a:pPr>
            <a:r>
              <a:rPr lang="en-IN" sz="1800" dirty="0">
                <a:latin typeface="Times New Roman" pitchFamily="18" charset="0"/>
                <a:cs typeface="Times New Roman" pitchFamily="18" charset="0"/>
              </a:rPr>
              <a:t>resnet_model.add(MaxPooling2D(pool_size=1))</a:t>
            </a:r>
          </a:p>
          <a:p>
            <a:pPr marL="0" indent="0">
              <a:buNone/>
            </a:pPr>
            <a:r>
              <a:rPr lang="en-IN" sz="1800" dirty="0">
                <a:latin typeface="Times New Roman" pitchFamily="18" charset="0"/>
                <a:cs typeface="Times New Roman" pitchFamily="18" charset="0"/>
              </a:rPr>
              <a:t>resnet_model.add(Dropout(0.2))</a:t>
            </a:r>
          </a:p>
          <a:p>
            <a:pPr marL="0" indent="0">
              <a:buNone/>
            </a:pPr>
            <a:r>
              <a:rPr lang="en-IN" sz="1800" dirty="0">
                <a:latin typeface="Times New Roman" pitchFamily="18" charset="0"/>
                <a:cs typeface="Times New Roman" pitchFamily="18" charset="0"/>
              </a:rPr>
              <a:t>resnet_model.add(Conv2D(filters=128, kernel_size=1, activation='relu'))</a:t>
            </a:r>
          </a:p>
          <a:p>
            <a:pPr marL="0" indent="0">
              <a:buNone/>
            </a:pPr>
            <a:r>
              <a:rPr lang="en-IN" sz="1800" dirty="0">
                <a:latin typeface="Times New Roman" pitchFamily="18" charset="0"/>
                <a:cs typeface="Times New Roman" pitchFamily="18" charset="0"/>
              </a:rPr>
              <a:t>resnet_model.add(MaxPooling2D(pool_size=1))</a:t>
            </a:r>
          </a:p>
          <a:p>
            <a:pPr marL="0" indent="0">
              <a:buNone/>
            </a:pPr>
            <a:r>
              <a:rPr lang="en-IN" sz="1800" dirty="0">
                <a:latin typeface="Times New Roman" pitchFamily="18" charset="0"/>
                <a:cs typeface="Times New Roman" pitchFamily="18" charset="0"/>
              </a:rPr>
              <a:t>resnet_model.add(Dropout(0.2))</a:t>
            </a:r>
          </a:p>
          <a:p>
            <a:pPr marL="0" indent="0">
              <a:buNone/>
            </a:pPr>
            <a:r>
              <a:rPr lang="en-IN" sz="1800" dirty="0">
                <a:latin typeface="Times New Roman" pitchFamily="18" charset="0"/>
                <a:cs typeface="Times New Roman" pitchFamily="18" charset="0"/>
              </a:rPr>
              <a:t>resnet_model.add(GlobalAveragePooling2D())</a:t>
            </a:r>
          </a:p>
          <a:p>
            <a:pPr marL="0" indent="0">
              <a:buNone/>
            </a:pPr>
            <a:r>
              <a:rPr lang="en-IN" sz="1800" dirty="0">
                <a:latin typeface="Times New Roman" pitchFamily="18" charset="0"/>
                <a:cs typeface="Times New Roman" pitchFamily="18" charset="0"/>
              </a:rPr>
              <a:t>resnet_model.add(Dense(y_trains.shape[1], activation='softmax'))</a:t>
            </a:r>
          </a:p>
          <a:p>
            <a:pPr marL="0" indent="0">
              <a:buNone/>
            </a:pPr>
            <a:r>
              <a:rPr lang="en-IN" sz="1800" dirty="0">
                <a:latin typeface="Times New Roman" pitchFamily="18" charset="0"/>
                <a:cs typeface="Times New Roman" pitchFamily="18" charset="0"/>
              </a:rPr>
              <a:t>resnet_model.compile(loss='categorical_crossentropy', optimizer="adam", metrics=['accuracy'])</a:t>
            </a:r>
          </a:p>
          <a:p>
            <a:pPr marL="0" indent="0">
              <a:buNone/>
            </a:pPr>
            <a:r>
              <a:rPr lang="en-IN" sz="1800" dirty="0">
                <a:latin typeface="Times New Roman" pitchFamily="18" charset="0"/>
                <a:cs typeface="Times New Roman" pitchFamily="18" charset="0"/>
              </a:rPr>
              <a:t>resnet_model = load_model('model/resnet_model_weights.hdf5')</a:t>
            </a: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23</a:t>
            </a:fld>
            <a:endParaRPr lang="en-IN" dirty="0"/>
          </a:p>
        </p:txBody>
      </p:sp>
    </p:spTree>
    <p:extLst>
      <p:ext uri="{BB962C8B-B14F-4D97-AF65-F5344CB8AC3E}">
        <p14:creationId xmlns:p14="http://schemas.microsoft.com/office/powerpoint/2010/main" val="2965941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1300" y="177800"/>
            <a:ext cx="11696700" cy="6515100"/>
          </a:xfrm>
        </p:spPr>
        <p:txBody>
          <a:bodyPr>
            <a:noAutofit/>
          </a:bodyPr>
          <a:lstStyle/>
          <a:p>
            <a:pPr marL="0" indent="0">
              <a:buNone/>
            </a:pPr>
            <a:r>
              <a:rPr lang="en-IN" sz="1800" dirty="0">
                <a:latin typeface="Times New Roman" pitchFamily="18" charset="0"/>
                <a:cs typeface="Times New Roman" pitchFamily="18" charset="0"/>
              </a:rPr>
              <a:t>predict = resnet_model.predict(X_tests)</a:t>
            </a:r>
          </a:p>
          <a:p>
            <a:pPr marL="0" indent="0">
              <a:buNone/>
            </a:pPr>
            <a:r>
              <a:rPr lang="en-IN" sz="1800" dirty="0">
                <a:latin typeface="Times New Roman" pitchFamily="18" charset="0"/>
                <a:cs typeface="Times New Roman" pitchFamily="18" charset="0"/>
              </a:rPr>
              <a:t>predict = np.argmax(predict, axis=1)</a:t>
            </a:r>
          </a:p>
          <a:p>
            <a:pPr marL="0" indent="0">
              <a:buNone/>
            </a:pPr>
            <a:r>
              <a:rPr lang="en-IN" sz="1800" dirty="0">
                <a:latin typeface="Times New Roman" pitchFamily="18" charset="0"/>
                <a:cs typeface="Times New Roman" pitchFamily="18" charset="0"/>
              </a:rPr>
              <a:t>target = np.argmax(y_tests, axis=1)</a:t>
            </a:r>
          </a:p>
          <a:p>
            <a:pPr marL="0" indent="0">
              <a:buNone/>
            </a:pPr>
            <a:r>
              <a:rPr lang="en-IN" sz="1800" dirty="0">
                <a:latin typeface="Times New Roman" pitchFamily="18" charset="0"/>
                <a:cs typeface="Times New Roman" pitchFamily="18" charset="0"/>
              </a:rPr>
              <a:t>f = open('model/resnet_history.pckl', 'rb')</a:t>
            </a:r>
          </a:p>
          <a:p>
            <a:pPr marL="0" indent="0">
              <a:buNone/>
            </a:pPr>
            <a:r>
              <a:rPr lang="en-IN" sz="1800" dirty="0">
                <a:latin typeface="Times New Roman" pitchFamily="18" charset="0"/>
                <a:cs typeface="Times New Roman" pitchFamily="18" charset="0"/>
              </a:rPr>
              <a:t>data = pickle.load(f)</a:t>
            </a:r>
          </a:p>
          <a:p>
            <a:pPr marL="0" indent="0">
              <a:buNone/>
            </a:pPr>
            <a:r>
              <a:rPr lang="en-IN" sz="1800" dirty="0">
                <a:latin typeface="Times New Roman" pitchFamily="18" charset="0"/>
                <a:cs typeface="Times New Roman" pitchFamily="18" charset="0"/>
              </a:rPr>
              <a:t>f.close()</a:t>
            </a:r>
          </a:p>
          <a:p>
            <a:pPr marL="0" indent="0">
              <a:buNone/>
            </a:pPr>
            <a:r>
              <a:rPr lang="en-IN" sz="1800" dirty="0">
                <a:latin typeface="Times New Roman" pitchFamily="18" charset="0"/>
                <a:cs typeface="Times New Roman" pitchFamily="18" charset="0"/>
              </a:rPr>
              <a:t>acc = data['accuracy']</a:t>
            </a:r>
          </a:p>
          <a:p>
            <a:pPr marL="0" indent="0">
              <a:buNone/>
            </a:pPr>
            <a:r>
              <a:rPr lang="en-IN" sz="1800" dirty="0">
                <a:latin typeface="Times New Roman" pitchFamily="18" charset="0"/>
                <a:cs typeface="Times New Roman" pitchFamily="18" charset="0"/>
              </a:rPr>
              <a:t>val_accuracy = data['val_accuracy']</a:t>
            </a:r>
          </a:p>
          <a:p>
            <a:pPr marL="0" indent="0">
              <a:buNone/>
            </a:pPr>
            <a:endParaRPr lang="en-IN" sz="1800" dirty="0">
              <a:latin typeface="Times New Roman" pitchFamily="18" charset="0"/>
              <a:cs typeface="Times New Roman" pitchFamily="18" charset="0"/>
            </a:endParaRPr>
          </a:p>
          <a:p>
            <a:pPr marL="0" indent="0">
              <a:buNone/>
            </a:pPr>
            <a:r>
              <a:rPr lang="en-IN" sz="1800" dirty="0">
                <a:latin typeface="Times New Roman" pitchFamily="18" charset="0"/>
                <a:cs typeface="Times New Roman" pitchFamily="18" charset="0"/>
              </a:rPr>
              <a:t>plt.figure(figsize=(10,6))</a:t>
            </a:r>
          </a:p>
          <a:p>
            <a:pPr marL="0" indent="0">
              <a:buNone/>
            </a:pPr>
            <a:r>
              <a:rPr lang="en-IN" sz="1800" dirty="0">
                <a:latin typeface="Times New Roman" pitchFamily="18" charset="0"/>
                <a:cs typeface="Times New Roman" pitchFamily="18" charset="0"/>
              </a:rPr>
              <a:t>plt.grid(True)</a:t>
            </a:r>
          </a:p>
          <a:p>
            <a:pPr marL="0" indent="0">
              <a:buNone/>
            </a:pPr>
            <a:r>
              <a:rPr lang="en-IN" sz="1800" dirty="0">
                <a:latin typeface="Times New Roman" pitchFamily="18" charset="0"/>
                <a:cs typeface="Times New Roman" pitchFamily="18" charset="0"/>
              </a:rPr>
              <a:t>plt.xlabel('EPOCH')</a:t>
            </a:r>
          </a:p>
          <a:p>
            <a:pPr marL="0" indent="0">
              <a:buNone/>
            </a:pPr>
            <a:r>
              <a:rPr lang="en-IN" sz="1800" dirty="0">
                <a:latin typeface="Times New Roman" pitchFamily="18" charset="0"/>
                <a:cs typeface="Times New Roman" pitchFamily="18" charset="0"/>
              </a:rPr>
              <a:t>plt.ylabel('Accuracy')</a:t>
            </a:r>
          </a:p>
          <a:p>
            <a:pPr marL="0" indent="0">
              <a:buNone/>
            </a:pPr>
            <a:r>
              <a:rPr lang="en-IN" sz="1800" dirty="0">
                <a:latin typeface="Times New Roman" pitchFamily="18" charset="0"/>
                <a:cs typeface="Times New Roman" pitchFamily="18" charset="0"/>
              </a:rPr>
              <a:t>plt.plot(val_accuracy, 'ro-', color = 'green')</a:t>
            </a:r>
          </a:p>
          <a:p>
            <a:pPr marL="0" indent="0">
              <a:buNone/>
            </a:pPr>
            <a:r>
              <a:rPr lang="en-IN" sz="1800" dirty="0">
                <a:latin typeface="Times New Roman" pitchFamily="18" charset="0"/>
                <a:cs typeface="Times New Roman" pitchFamily="18" charset="0"/>
              </a:rPr>
              <a:t>plt.plot(acc, 'ro-', color = 'blue')</a:t>
            </a:r>
          </a:p>
          <a:p>
            <a:pPr marL="0" indent="0">
              <a:buNone/>
            </a:pPr>
            <a:r>
              <a:rPr lang="en-IN" sz="1800" dirty="0">
                <a:latin typeface="Times New Roman" pitchFamily="18" charset="0"/>
                <a:cs typeface="Times New Roman" pitchFamily="18" charset="0"/>
              </a:rPr>
              <a:t>plt.legend(['Training Accuracy', 'Validation Accuracy'], loc='upper left')</a:t>
            </a:r>
          </a:p>
          <a:p>
            <a:pPr marL="0" indent="0">
              <a:buNone/>
            </a:pPr>
            <a:r>
              <a:rPr lang="en-IN" sz="1800" dirty="0">
                <a:latin typeface="Times New Roman" pitchFamily="18" charset="0"/>
                <a:cs typeface="Times New Roman" pitchFamily="18" charset="0"/>
              </a:rPr>
              <a:t>plt.title('Resnet50 Algorithm Training &amp; Validation Accuracy Graph')</a:t>
            </a: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24</a:t>
            </a:fld>
            <a:endParaRPr lang="en-IN" dirty="0"/>
          </a:p>
        </p:txBody>
      </p:sp>
    </p:spTree>
    <p:extLst>
      <p:ext uri="{BB962C8B-B14F-4D97-AF65-F5344CB8AC3E}">
        <p14:creationId xmlns:p14="http://schemas.microsoft.com/office/powerpoint/2010/main" val="1182508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idx="1"/>
          </p:nvPr>
        </p:nvSpPr>
        <p:spPr>
          <a:xfrm>
            <a:off x="431800" y="215900"/>
            <a:ext cx="11442700" cy="6400800"/>
          </a:xfrm>
        </p:spPr>
        <p:txBody>
          <a:bodyPr>
            <a:normAutofit/>
          </a:bodyPr>
          <a:lstStyle/>
          <a:p>
            <a:pPr marL="0" indent="0">
              <a:buNone/>
            </a:pPr>
            <a:endParaRPr lang="en-IN" sz="1800" dirty="0">
              <a:latin typeface="Times New Roman" pitchFamily="18" charset="0"/>
              <a:cs typeface="Times New Roman" pitchFamily="18" charset="0"/>
            </a:endParaRPr>
          </a:p>
          <a:p>
            <a:pPr marL="0" indent="0">
              <a:buNone/>
            </a:pPr>
            <a:r>
              <a:rPr lang="en-IN" sz="1800" dirty="0">
                <a:latin typeface="Times New Roman" pitchFamily="18" charset="0"/>
                <a:cs typeface="Times New Roman" pitchFamily="18" charset="0"/>
              </a:rPr>
              <a:t>plt.show()</a:t>
            </a:r>
          </a:p>
          <a:p>
            <a:pPr marL="0" indent="0">
              <a:buNone/>
            </a:pPr>
            <a:r>
              <a:rPr lang="en-IN" sz="1800" dirty="0">
                <a:latin typeface="Times New Roman" pitchFamily="18" charset="0"/>
                <a:cs typeface="Times New Roman" pitchFamily="18" charset="0"/>
              </a:rPr>
              <a:t>calculateMetrics("Resnet50", predict, target) </a:t>
            </a:r>
          </a:p>
          <a:p>
            <a:pPr marL="0" indent="0">
              <a:buNone/>
            </a:pPr>
            <a:endParaRPr lang="en-IN" sz="1800" dirty="0"/>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25</a:t>
            </a:fld>
            <a:endParaRPr lang="en-IN" dirty="0"/>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7900" y="1473200"/>
            <a:ext cx="7531100" cy="4902199"/>
          </a:xfrm>
          <a:prstGeom prst="rect">
            <a:avLst/>
          </a:prstGeom>
        </p:spPr>
      </p:pic>
    </p:spTree>
    <p:extLst>
      <p:ext uri="{BB962C8B-B14F-4D97-AF65-F5344CB8AC3E}">
        <p14:creationId xmlns:p14="http://schemas.microsoft.com/office/powerpoint/2010/main" val="996503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4000" y="279400"/>
            <a:ext cx="11747500" cy="6451600"/>
          </a:xfrm>
        </p:spPr>
        <p:txBody>
          <a:bodyPr>
            <a:normAutofit fontScale="92500" lnSpcReduction="20000"/>
          </a:bodyPr>
          <a:lstStyle/>
          <a:p>
            <a:pPr marL="0" indent="0" algn="just">
              <a:buNone/>
            </a:pPr>
            <a:r>
              <a:rPr lang="en-US" sz="1900" b="1" dirty="0">
                <a:latin typeface="Times New Roman" pitchFamily="18" charset="0"/>
                <a:cs typeface="Times New Roman" pitchFamily="18" charset="0"/>
              </a:rPr>
              <a:t>#training vgg16 model</a:t>
            </a:r>
            <a:endParaRPr lang="en-IN" sz="1900" b="1" dirty="0">
              <a:latin typeface="Times New Roman" pitchFamily="18" charset="0"/>
              <a:cs typeface="Times New Roman" pitchFamily="18" charset="0"/>
            </a:endParaRPr>
          </a:p>
          <a:p>
            <a:pPr marL="0" indent="0" algn="just">
              <a:buNone/>
            </a:pPr>
            <a:r>
              <a:rPr lang="en-IN" sz="1800" dirty="0">
                <a:latin typeface="Times New Roman" pitchFamily="18" charset="0"/>
                <a:cs typeface="Times New Roman" pitchFamily="18" charset="0"/>
              </a:rPr>
              <a:t>if os.path.exists('model/vgg_model.json'):</a:t>
            </a:r>
          </a:p>
          <a:p>
            <a:pPr marL="0" indent="0" algn="just">
              <a:buNone/>
            </a:pPr>
            <a:r>
              <a:rPr lang="en-IN" sz="1800" dirty="0">
                <a:latin typeface="Times New Roman" pitchFamily="18" charset="0"/>
                <a:cs typeface="Times New Roman" pitchFamily="18" charset="0"/>
              </a:rPr>
              <a:t>    with open('model/vgg_model.json', "r") as json_file:</a:t>
            </a:r>
          </a:p>
          <a:p>
            <a:pPr marL="0" indent="0" algn="just">
              <a:buNone/>
            </a:pPr>
            <a:r>
              <a:rPr lang="en-IN" sz="1800" dirty="0">
                <a:latin typeface="Times New Roman" pitchFamily="18" charset="0"/>
                <a:cs typeface="Times New Roman" pitchFamily="18" charset="0"/>
              </a:rPr>
              <a:t>        loaded_model_json = json_file.read()</a:t>
            </a:r>
          </a:p>
          <a:p>
            <a:pPr marL="0" indent="0" algn="just">
              <a:buNone/>
            </a:pPr>
            <a:r>
              <a:rPr lang="en-IN" sz="1800" dirty="0">
                <a:latin typeface="Times New Roman" pitchFamily="18" charset="0"/>
                <a:cs typeface="Times New Roman" pitchFamily="18" charset="0"/>
              </a:rPr>
              <a:t>        vgg_model = model_from_json(loaded_model_json)</a:t>
            </a:r>
          </a:p>
          <a:p>
            <a:pPr marL="0" indent="0" algn="just">
              <a:buNone/>
            </a:pPr>
            <a:r>
              <a:rPr lang="en-IN" sz="1800" dirty="0">
                <a:latin typeface="Times New Roman" pitchFamily="18" charset="0"/>
                <a:cs typeface="Times New Roman" pitchFamily="18" charset="0"/>
              </a:rPr>
              <a:t>    json_file.close()    </a:t>
            </a:r>
          </a:p>
          <a:p>
            <a:pPr marL="0" indent="0" algn="just">
              <a:buNone/>
            </a:pPr>
            <a:r>
              <a:rPr lang="en-IN" sz="1800" dirty="0">
                <a:latin typeface="Times New Roman" pitchFamily="18" charset="0"/>
                <a:cs typeface="Times New Roman" pitchFamily="18" charset="0"/>
              </a:rPr>
              <a:t>    vgg_model.load_weights("model/vgg_model_weights.h5")</a:t>
            </a:r>
          </a:p>
          <a:p>
            <a:pPr marL="0" indent="0" algn="just">
              <a:buNone/>
            </a:pPr>
            <a:r>
              <a:rPr lang="en-IN" sz="1800" dirty="0">
                <a:latin typeface="Times New Roman" pitchFamily="18" charset="0"/>
                <a:cs typeface="Times New Roman" pitchFamily="18" charset="0"/>
              </a:rPr>
              <a:t>    vgg_model._make_predict_function() </a:t>
            </a:r>
          </a:p>
          <a:p>
            <a:pPr marL="0" indent="0" algn="just">
              <a:buNone/>
            </a:pPr>
            <a:r>
              <a:rPr lang="en-IN" sz="1800" dirty="0">
                <a:latin typeface="Times New Roman" pitchFamily="18" charset="0"/>
                <a:cs typeface="Times New Roman" pitchFamily="18" charset="0"/>
              </a:rPr>
              <a:t>else:</a:t>
            </a:r>
          </a:p>
          <a:p>
            <a:pPr marL="0" indent="0" algn="just">
              <a:buNone/>
            </a:pPr>
            <a:r>
              <a:rPr lang="en-IN" sz="1800" dirty="0">
                <a:solidFill>
                  <a:schemeClr val="accent1"/>
                </a:solidFill>
                <a:latin typeface="Times New Roman" pitchFamily="18" charset="0"/>
                <a:cs typeface="Times New Roman" pitchFamily="18" charset="0"/>
              </a:rPr>
              <a:t>    #transfer learning with VGG And then adding own layers</a:t>
            </a:r>
          </a:p>
          <a:p>
            <a:pPr marL="0" indent="0" algn="just">
              <a:buNone/>
            </a:pPr>
            <a:r>
              <a:rPr lang="en-IN" sz="1800" dirty="0">
                <a:latin typeface="Times New Roman" pitchFamily="18" charset="0"/>
                <a:cs typeface="Times New Roman" pitchFamily="18" charset="0"/>
              </a:rPr>
              <a:t>    vgg = VGG16(input_shape=(X_train.shape[1], X_train.shape[2], X_train.shape[3]), include_top=False, weights="imagenet")</a:t>
            </a:r>
          </a:p>
          <a:p>
            <a:pPr marL="0" indent="0" algn="just">
              <a:buNone/>
            </a:pPr>
            <a:r>
              <a:rPr lang="en-IN" sz="1800" dirty="0">
                <a:latin typeface="Times New Roman" pitchFamily="18" charset="0"/>
                <a:cs typeface="Times New Roman" pitchFamily="18" charset="0"/>
              </a:rPr>
              <a:t>    for layer in vgg.layers:</a:t>
            </a:r>
          </a:p>
          <a:p>
            <a:pPr marL="0" indent="0" algn="just">
              <a:buNone/>
            </a:pPr>
            <a:r>
              <a:rPr lang="en-IN" sz="1800" dirty="0">
                <a:latin typeface="Times New Roman" pitchFamily="18" charset="0"/>
                <a:cs typeface="Times New Roman" pitchFamily="18" charset="0"/>
              </a:rPr>
              <a:t>        layer.trainable = False</a:t>
            </a:r>
          </a:p>
          <a:p>
            <a:pPr marL="0" indent="0" algn="just">
              <a:buNone/>
            </a:pPr>
            <a:r>
              <a:rPr lang="en-IN" sz="1800" dirty="0">
                <a:latin typeface="Times New Roman" pitchFamily="18" charset="0"/>
                <a:cs typeface="Times New Roman" pitchFamily="18" charset="0"/>
              </a:rPr>
              <a:t>    vgg_model = Sequential()</a:t>
            </a:r>
          </a:p>
          <a:p>
            <a:pPr marL="0" indent="0" algn="just">
              <a:buNone/>
            </a:pPr>
            <a:r>
              <a:rPr lang="en-IN" sz="1800" dirty="0">
                <a:latin typeface="Times New Roman" pitchFamily="18" charset="0"/>
                <a:cs typeface="Times New Roman" pitchFamily="18" charset="0"/>
              </a:rPr>
              <a:t>    vgg_model.add(vgg) #adding VGG object to our CNN as transfer learning</a:t>
            </a:r>
          </a:p>
          <a:p>
            <a:pPr marL="0" indent="0" algn="just">
              <a:buNone/>
            </a:pPr>
            <a:r>
              <a:rPr lang="en-IN" sz="1800" dirty="0">
                <a:latin typeface="Times New Roman" pitchFamily="18" charset="0"/>
                <a:cs typeface="Times New Roman" pitchFamily="18" charset="0"/>
              </a:rPr>
              <a:t>    vgg_model.add(Convolution2D(32, 1, 1, input_shape = (X_train.shape[1], X_train.shape[2], X_train.shape[3]), activation = 'relu'))</a:t>
            </a:r>
          </a:p>
          <a:p>
            <a:pPr marL="0" indent="0" algn="just">
              <a:buNone/>
            </a:pPr>
            <a:r>
              <a:rPr lang="en-IN" sz="1800" dirty="0">
                <a:latin typeface="Times New Roman" pitchFamily="18" charset="0"/>
                <a:cs typeface="Times New Roman" pitchFamily="18" charset="0"/>
              </a:rPr>
              <a:t>    vgg_model.add(MaxPooling2D(pool_size = (1,1)))</a:t>
            </a:r>
          </a:p>
          <a:p>
            <a:pPr marL="0" indent="0" algn="just">
              <a:buNone/>
            </a:pPr>
            <a:r>
              <a:rPr lang="en-IN" sz="1800" dirty="0">
                <a:latin typeface="Times New Roman" pitchFamily="18" charset="0"/>
                <a:cs typeface="Times New Roman" pitchFamily="18" charset="0"/>
              </a:rPr>
              <a:t>    vgg_model.add(Convolution2D(32, 1, 1, activation = 'relu'))</a:t>
            </a:r>
          </a:p>
          <a:p>
            <a:pPr marL="0" indent="0" algn="just">
              <a:buNone/>
            </a:pPr>
            <a:r>
              <a:rPr lang="en-IN" sz="1800" dirty="0">
                <a:latin typeface="Times New Roman" pitchFamily="18" charset="0"/>
                <a:cs typeface="Times New Roman" pitchFamily="18" charset="0"/>
              </a:rPr>
              <a:t>    vgg_model.add(MaxPooling2D(pool_size = (1, 1)))</a:t>
            </a: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26</a:t>
            </a:fld>
            <a:endParaRPr lang="en-IN" dirty="0"/>
          </a:p>
        </p:txBody>
      </p:sp>
    </p:spTree>
    <p:extLst>
      <p:ext uri="{BB962C8B-B14F-4D97-AF65-F5344CB8AC3E}">
        <p14:creationId xmlns:p14="http://schemas.microsoft.com/office/powerpoint/2010/main" val="2279402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100" y="241300"/>
            <a:ext cx="11633200" cy="6438900"/>
          </a:xfrm>
        </p:spPr>
        <p:txBody>
          <a:bodyPr>
            <a:normAutofit fontScale="92500" lnSpcReduction="20000"/>
          </a:bodyPr>
          <a:lstStyle/>
          <a:p>
            <a:pPr marL="0" indent="0">
              <a:buNone/>
            </a:pPr>
            <a:r>
              <a:rPr lang="en-IN" sz="1800" dirty="0">
                <a:latin typeface="Times New Roman" pitchFamily="18" charset="0"/>
                <a:cs typeface="Times New Roman" pitchFamily="18" charset="0"/>
              </a:rPr>
              <a:t>vgg_model.add(Flatten())</a:t>
            </a:r>
          </a:p>
          <a:p>
            <a:pPr marL="0" indent="0">
              <a:buNone/>
            </a:pPr>
            <a:r>
              <a:rPr lang="en-IN" sz="1800" dirty="0">
                <a:latin typeface="Times New Roman" pitchFamily="18" charset="0"/>
                <a:cs typeface="Times New Roman" pitchFamily="18" charset="0"/>
              </a:rPr>
              <a:t>    vgg_model.add(Dense(output_dim = 128, activation = 'relu'))</a:t>
            </a:r>
          </a:p>
          <a:p>
            <a:pPr marL="0" indent="0">
              <a:buNone/>
            </a:pPr>
            <a:r>
              <a:rPr lang="en-IN" sz="1800" dirty="0">
                <a:latin typeface="Times New Roman" pitchFamily="18" charset="0"/>
                <a:cs typeface="Times New Roman" pitchFamily="18" charset="0"/>
              </a:rPr>
              <a:t>    vgg_model.add(Dense(output_dim = y_train.shape[1], activation = 'softmax'))</a:t>
            </a:r>
          </a:p>
          <a:p>
            <a:pPr marL="0" indent="0">
              <a:buNone/>
            </a:pPr>
            <a:r>
              <a:rPr lang="en-IN" sz="1800" dirty="0">
                <a:latin typeface="Times New Roman" pitchFamily="18" charset="0"/>
                <a:cs typeface="Times New Roman" pitchFamily="18" charset="0"/>
              </a:rPr>
              <a:t>    vgg_model.compile(optimizer = 'adam', loss = 'categorical_crossentropy', metrics = ['accuracy'])</a:t>
            </a:r>
          </a:p>
          <a:p>
            <a:pPr marL="0" indent="0">
              <a:buNone/>
            </a:pPr>
            <a:r>
              <a:rPr lang="en-IN" sz="1800" dirty="0">
                <a:latin typeface="Times New Roman" pitchFamily="18" charset="0"/>
                <a:cs typeface="Times New Roman" pitchFamily="18" charset="0"/>
              </a:rPr>
              <a:t>    hist = vgg_model.fit(X_train, y_train, batch_size=16, epochs=20, shuffle=True, verbose=2, validation_data=(X_test, y_test))</a:t>
            </a:r>
          </a:p>
          <a:p>
            <a:pPr marL="0" indent="0">
              <a:buNone/>
            </a:pPr>
            <a:r>
              <a:rPr lang="en-IN" sz="1800" dirty="0">
                <a:latin typeface="Times New Roman" pitchFamily="18" charset="0"/>
                <a:cs typeface="Times New Roman" pitchFamily="18" charset="0"/>
              </a:rPr>
              <a:t>    vgg_model.save_weights('model/vgg_model_weights.h5')            </a:t>
            </a:r>
          </a:p>
          <a:p>
            <a:pPr marL="0" indent="0">
              <a:buNone/>
            </a:pPr>
            <a:r>
              <a:rPr lang="en-IN" sz="1800" dirty="0">
                <a:latin typeface="Times New Roman" pitchFamily="18" charset="0"/>
                <a:cs typeface="Times New Roman" pitchFamily="18" charset="0"/>
              </a:rPr>
              <a:t>    model_json = vgg_model.to_json()</a:t>
            </a:r>
          </a:p>
          <a:p>
            <a:pPr marL="0" indent="0">
              <a:buNone/>
            </a:pPr>
            <a:r>
              <a:rPr lang="en-IN" sz="1800" dirty="0">
                <a:latin typeface="Times New Roman" pitchFamily="18" charset="0"/>
                <a:cs typeface="Times New Roman" pitchFamily="18" charset="0"/>
              </a:rPr>
              <a:t>    with open("model/vgg_model.json", "w") as json_file:</a:t>
            </a:r>
          </a:p>
          <a:p>
            <a:pPr marL="0" indent="0">
              <a:buNone/>
            </a:pPr>
            <a:r>
              <a:rPr lang="en-IN" sz="1800" dirty="0">
                <a:latin typeface="Times New Roman" pitchFamily="18" charset="0"/>
                <a:cs typeface="Times New Roman" pitchFamily="18" charset="0"/>
              </a:rPr>
              <a:t>        json_file.write(model_json)</a:t>
            </a:r>
          </a:p>
          <a:p>
            <a:pPr marL="0" indent="0">
              <a:buNone/>
            </a:pPr>
            <a:r>
              <a:rPr lang="en-IN" sz="1800" dirty="0">
                <a:latin typeface="Times New Roman" pitchFamily="18" charset="0"/>
                <a:cs typeface="Times New Roman" pitchFamily="18" charset="0"/>
              </a:rPr>
              <a:t>    f = open('model/vgg_history.pckl', 'wb')</a:t>
            </a:r>
          </a:p>
          <a:p>
            <a:pPr marL="0" indent="0">
              <a:buNone/>
            </a:pPr>
            <a:r>
              <a:rPr lang="en-IN" sz="1800" dirty="0">
                <a:latin typeface="Times New Roman" pitchFamily="18" charset="0"/>
                <a:cs typeface="Times New Roman" pitchFamily="18" charset="0"/>
              </a:rPr>
              <a:t>    pickle.dump(hist.history, f)</a:t>
            </a:r>
          </a:p>
          <a:p>
            <a:pPr marL="0" indent="0">
              <a:buNone/>
            </a:pPr>
            <a:r>
              <a:rPr lang="en-IN" sz="1800" dirty="0">
                <a:latin typeface="Times New Roman" pitchFamily="18" charset="0"/>
                <a:cs typeface="Times New Roman" pitchFamily="18" charset="0"/>
              </a:rPr>
              <a:t>    f.close()</a:t>
            </a:r>
          </a:p>
          <a:p>
            <a:pPr marL="0" indent="0">
              <a:buNone/>
            </a:pPr>
            <a:r>
              <a:rPr lang="en-IN" sz="1800" dirty="0">
                <a:latin typeface="Times New Roman" pitchFamily="18" charset="0"/>
                <a:cs typeface="Times New Roman" pitchFamily="18" charset="0"/>
              </a:rPr>
              <a:t>predict = vgg_model.predict(X_test)</a:t>
            </a:r>
          </a:p>
          <a:p>
            <a:pPr marL="0" indent="0">
              <a:buNone/>
            </a:pPr>
            <a:r>
              <a:rPr lang="en-IN" sz="1800" dirty="0">
                <a:latin typeface="Times New Roman" pitchFamily="18" charset="0"/>
                <a:cs typeface="Times New Roman" pitchFamily="18" charset="0"/>
              </a:rPr>
              <a:t>predict = np.argmax(predict, axis=1)</a:t>
            </a:r>
          </a:p>
          <a:p>
            <a:pPr marL="0" indent="0">
              <a:buNone/>
            </a:pPr>
            <a:r>
              <a:rPr lang="en-IN" sz="1800" dirty="0">
                <a:latin typeface="Times New Roman" pitchFamily="18" charset="0"/>
                <a:cs typeface="Times New Roman" pitchFamily="18" charset="0"/>
              </a:rPr>
              <a:t>target = np.argmax(y_test, axis=1)    </a:t>
            </a:r>
          </a:p>
          <a:p>
            <a:pPr marL="0" indent="0">
              <a:buNone/>
            </a:pPr>
            <a:r>
              <a:rPr lang="en-IN" sz="1800" dirty="0">
                <a:latin typeface="Times New Roman" pitchFamily="18" charset="0"/>
                <a:cs typeface="Times New Roman" pitchFamily="18" charset="0"/>
              </a:rPr>
              <a:t>f = open('model/vgg_history.pckl', 'rb')</a:t>
            </a:r>
          </a:p>
          <a:p>
            <a:pPr marL="0" indent="0">
              <a:buNone/>
            </a:pPr>
            <a:r>
              <a:rPr lang="en-IN" sz="1800" dirty="0">
                <a:latin typeface="Times New Roman" pitchFamily="18" charset="0"/>
                <a:cs typeface="Times New Roman" pitchFamily="18" charset="0"/>
              </a:rPr>
              <a:t>data = pickle.load(f)</a:t>
            </a:r>
          </a:p>
          <a:p>
            <a:pPr marL="0" indent="0">
              <a:buNone/>
            </a:pPr>
            <a:r>
              <a:rPr lang="en-IN" sz="1800" dirty="0">
                <a:latin typeface="Times New Roman" pitchFamily="18" charset="0"/>
                <a:cs typeface="Times New Roman" pitchFamily="18" charset="0"/>
              </a:rPr>
              <a:t>f.close()</a:t>
            </a: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27</a:t>
            </a:fld>
            <a:endParaRPr lang="en-IN" dirty="0"/>
          </a:p>
        </p:txBody>
      </p:sp>
    </p:spTree>
    <p:extLst>
      <p:ext uri="{BB962C8B-B14F-4D97-AF65-F5344CB8AC3E}">
        <p14:creationId xmlns:p14="http://schemas.microsoft.com/office/powerpoint/2010/main" val="32030019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7500" y="241300"/>
            <a:ext cx="11633200" cy="6400800"/>
          </a:xfrm>
        </p:spPr>
        <p:txBody>
          <a:bodyPr>
            <a:normAutofit/>
          </a:bodyPr>
          <a:lstStyle/>
          <a:p>
            <a:pPr marL="0" indent="0">
              <a:buNone/>
            </a:pPr>
            <a:r>
              <a:rPr lang="en-IN" sz="1800" dirty="0">
                <a:latin typeface="Times New Roman" pitchFamily="18" charset="0"/>
                <a:cs typeface="Times New Roman" pitchFamily="18" charset="0"/>
              </a:rPr>
              <a:t>acc = data['val_accuracy']</a:t>
            </a:r>
          </a:p>
          <a:p>
            <a:pPr marL="0" indent="0">
              <a:buNone/>
            </a:pPr>
            <a:r>
              <a:rPr lang="en-IN" sz="1800" dirty="0">
                <a:latin typeface="Times New Roman" pitchFamily="18" charset="0"/>
                <a:cs typeface="Times New Roman" pitchFamily="18" charset="0"/>
              </a:rPr>
              <a:t>val_accuracy = data['accuracy']</a:t>
            </a:r>
          </a:p>
          <a:p>
            <a:pPr marL="0" indent="0">
              <a:buNone/>
            </a:pPr>
            <a:endParaRPr lang="en-IN" sz="1800" dirty="0">
              <a:latin typeface="Times New Roman" pitchFamily="18" charset="0"/>
              <a:cs typeface="Times New Roman" pitchFamily="18" charset="0"/>
            </a:endParaRPr>
          </a:p>
          <a:p>
            <a:pPr marL="0" indent="0">
              <a:buNone/>
            </a:pPr>
            <a:r>
              <a:rPr lang="en-IN" sz="1800" dirty="0">
                <a:latin typeface="Times New Roman" pitchFamily="18" charset="0"/>
                <a:cs typeface="Times New Roman" pitchFamily="18" charset="0"/>
              </a:rPr>
              <a:t>plt.figure(figsize=(10,6))</a:t>
            </a:r>
          </a:p>
          <a:p>
            <a:pPr marL="0" indent="0">
              <a:buNone/>
            </a:pPr>
            <a:r>
              <a:rPr lang="en-IN" sz="1800" dirty="0">
                <a:latin typeface="Times New Roman" pitchFamily="18" charset="0"/>
                <a:cs typeface="Times New Roman" pitchFamily="18" charset="0"/>
              </a:rPr>
              <a:t>plt.grid(True)</a:t>
            </a:r>
          </a:p>
          <a:p>
            <a:pPr marL="0" indent="0">
              <a:buNone/>
            </a:pPr>
            <a:r>
              <a:rPr lang="en-IN" sz="1800" dirty="0">
                <a:latin typeface="Times New Roman" pitchFamily="18" charset="0"/>
                <a:cs typeface="Times New Roman" pitchFamily="18" charset="0"/>
              </a:rPr>
              <a:t>plt.xlabel('EPOCH')</a:t>
            </a:r>
          </a:p>
          <a:p>
            <a:pPr marL="0" indent="0">
              <a:buNone/>
            </a:pPr>
            <a:r>
              <a:rPr lang="en-IN" sz="1800" dirty="0">
                <a:latin typeface="Times New Roman" pitchFamily="18" charset="0"/>
                <a:cs typeface="Times New Roman" pitchFamily="18" charset="0"/>
              </a:rPr>
              <a:t>plt.ylabel('Accuracy')</a:t>
            </a:r>
          </a:p>
          <a:p>
            <a:pPr marL="0" indent="0">
              <a:buNone/>
            </a:pPr>
            <a:r>
              <a:rPr lang="en-IN" sz="1800" dirty="0">
                <a:latin typeface="Times New Roman" pitchFamily="18" charset="0"/>
                <a:cs typeface="Times New Roman" pitchFamily="18" charset="0"/>
              </a:rPr>
              <a:t>plt.plot(acc, 'ro-', color = 'green')</a:t>
            </a:r>
          </a:p>
          <a:p>
            <a:pPr marL="0" indent="0">
              <a:buNone/>
            </a:pPr>
            <a:r>
              <a:rPr lang="en-IN" sz="1800" dirty="0">
                <a:latin typeface="Times New Roman" pitchFamily="18" charset="0"/>
                <a:cs typeface="Times New Roman" pitchFamily="18" charset="0"/>
              </a:rPr>
              <a:t>plt.plot(val_accuracy, 'ro-', color = 'blue’)</a:t>
            </a:r>
          </a:p>
          <a:p>
            <a:pPr marL="0" indent="0">
              <a:buNone/>
            </a:pPr>
            <a:r>
              <a:rPr lang="en-IN" sz="1800" dirty="0">
                <a:latin typeface="Times New Roman" pitchFamily="18" charset="0"/>
                <a:cs typeface="Times New Roman" pitchFamily="18" charset="0"/>
              </a:rPr>
              <a:t>plt.legend(['Training Accuracy', 'Validation Accuracy'], loc='upper left')</a:t>
            </a:r>
          </a:p>
          <a:p>
            <a:pPr marL="0" indent="0">
              <a:buNone/>
            </a:pPr>
            <a:r>
              <a:rPr lang="en-IN" sz="1800" dirty="0">
                <a:latin typeface="Times New Roman" pitchFamily="18" charset="0"/>
                <a:cs typeface="Times New Roman" pitchFamily="18" charset="0"/>
              </a:rPr>
              <a:t>plt.title('VGG16 Algorithm Training &amp; Validation Accuracy Graph')</a:t>
            </a:r>
          </a:p>
          <a:p>
            <a:pPr marL="0" indent="0">
              <a:buNone/>
            </a:pPr>
            <a:r>
              <a:rPr lang="en-IN" sz="1800" dirty="0">
                <a:latin typeface="Times New Roman" pitchFamily="18" charset="0"/>
                <a:cs typeface="Times New Roman" pitchFamily="18" charset="0"/>
              </a:rPr>
              <a:t>plt.show()</a:t>
            </a:r>
          </a:p>
          <a:p>
            <a:pPr marL="0" indent="0">
              <a:buNone/>
            </a:pPr>
            <a:r>
              <a:rPr lang="en-IN" sz="1800" dirty="0">
                <a:latin typeface="Times New Roman" pitchFamily="18" charset="0"/>
                <a:cs typeface="Times New Roman" pitchFamily="18" charset="0"/>
              </a:rPr>
              <a:t>calculateMetrics("VGG16", predict, target)</a:t>
            </a:r>
          </a:p>
          <a:p>
            <a:pPr marL="0" indent="0">
              <a:buNone/>
            </a:pPr>
            <a:endParaRPr lang="en-IN" sz="18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28</a:t>
            </a:fld>
            <a:endParaRPr lang="en-IN" dirty="0"/>
          </a:p>
        </p:txBody>
      </p:sp>
    </p:spTree>
    <p:extLst>
      <p:ext uri="{BB962C8B-B14F-4D97-AF65-F5344CB8AC3E}">
        <p14:creationId xmlns:p14="http://schemas.microsoft.com/office/powerpoint/2010/main" val="38008252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54000"/>
            <a:ext cx="11671300" cy="6438900"/>
          </a:xfrm>
        </p:spPr>
        <p:txBody>
          <a:bodyPr>
            <a:normAutofit/>
          </a:bodyPr>
          <a:lstStyle/>
          <a:p>
            <a:pPr marL="0" indent="0">
              <a:buNone/>
            </a:pPr>
            <a:endParaRPr lang="en-IN" sz="18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29</a:t>
            </a:fld>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0600" y="845796"/>
            <a:ext cx="7426826" cy="5123204"/>
          </a:xfrm>
          <a:prstGeom prst="rect">
            <a:avLst/>
          </a:prstGeom>
        </p:spPr>
      </p:pic>
    </p:spTree>
    <p:extLst>
      <p:ext uri="{BB962C8B-B14F-4D97-AF65-F5344CB8AC3E}">
        <p14:creationId xmlns:p14="http://schemas.microsoft.com/office/powerpoint/2010/main" val="41493199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9400" y="254000"/>
            <a:ext cx="11747500" cy="6451600"/>
          </a:xfrm>
        </p:spPr>
        <p:txBody>
          <a:bodyPr>
            <a:normAutofit fontScale="85000" lnSpcReduction="20000"/>
          </a:bodyPr>
          <a:lstStyle/>
          <a:p>
            <a:pPr marL="0" indent="0">
              <a:buNone/>
            </a:pPr>
            <a:r>
              <a:rPr lang="en-US" sz="1900" b="1" dirty="0">
                <a:latin typeface="Times New Roman" pitchFamily="18" charset="0"/>
                <a:cs typeface="Times New Roman" pitchFamily="18" charset="0"/>
              </a:rPr>
              <a:t>#training custom CNN model</a:t>
            </a:r>
            <a:endParaRPr lang="en-IN" sz="1900" b="1" dirty="0">
              <a:latin typeface="Times New Roman" pitchFamily="18" charset="0"/>
              <a:cs typeface="Times New Roman" pitchFamily="18" charset="0"/>
            </a:endParaRPr>
          </a:p>
          <a:p>
            <a:pPr marL="0" indent="0">
              <a:buNone/>
            </a:pPr>
            <a:r>
              <a:rPr lang="en-IN" sz="1800" dirty="0">
                <a:latin typeface="Times New Roman" pitchFamily="18" charset="0"/>
                <a:cs typeface="Times New Roman" pitchFamily="18" charset="0"/>
              </a:rPr>
              <a:t>if os.path.exists('model/custom_model.json'):</a:t>
            </a:r>
          </a:p>
          <a:p>
            <a:pPr marL="0" indent="0">
              <a:buNone/>
            </a:pPr>
            <a:r>
              <a:rPr lang="en-IN" sz="1800" dirty="0">
                <a:latin typeface="Times New Roman" pitchFamily="18" charset="0"/>
                <a:cs typeface="Times New Roman" pitchFamily="18" charset="0"/>
              </a:rPr>
              <a:t>    with open('model/custom_model.json', "r") as json_file:</a:t>
            </a:r>
          </a:p>
          <a:p>
            <a:pPr marL="0" indent="0">
              <a:buNone/>
            </a:pPr>
            <a:r>
              <a:rPr lang="en-IN" sz="1800" dirty="0">
                <a:latin typeface="Times New Roman" pitchFamily="18" charset="0"/>
                <a:cs typeface="Times New Roman" pitchFamily="18" charset="0"/>
              </a:rPr>
              <a:t>        loaded_model_json = json_file.read()</a:t>
            </a:r>
          </a:p>
          <a:p>
            <a:pPr marL="0" indent="0">
              <a:buNone/>
            </a:pPr>
            <a:r>
              <a:rPr lang="en-IN" sz="1800" dirty="0">
                <a:latin typeface="Times New Roman" pitchFamily="18" charset="0"/>
                <a:cs typeface="Times New Roman" pitchFamily="18" charset="0"/>
              </a:rPr>
              <a:t>        custom_model = model_from_json(loaded_model_json)</a:t>
            </a:r>
          </a:p>
          <a:p>
            <a:pPr marL="0" indent="0">
              <a:buNone/>
            </a:pPr>
            <a:r>
              <a:rPr lang="en-IN" sz="1800" dirty="0">
                <a:latin typeface="Times New Roman" pitchFamily="18" charset="0"/>
                <a:cs typeface="Times New Roman" pitchFamily="18" charset="0"/>
              </a:rPr>
              <a:t>    json_file.close()    </a:t>
            </a:r>
          </a:p>
          <a:p>
            <a:pPr marL="0" indent="0">
              <a:buNone/>
            </a:pPr>
            <a:r>
              <a:rPr lang="en-IN" sz="1800" dirty="0">
                <a:latin typeface="Times New Roman" pitchFamily="18" charset="0"/>
                <a:cs typeface="Times New Roman" pitchFamily="18" charset="0"/>
              </a:rPr>
              <a:t>    custom_model.load_weights("model/custom_model_weights.h5")</a:t>
            </a:r>
          </a:p>
          <a:p>
            <a:pPr marL="0" indent="0">
              <a:buNone/>
            </a:pPr>
            <a:r>
              <a:rPr lang="en-IN" sz="1800" dirty="0">
                <a:latin typeface="Times New Roman" pitchFamily="18" charset="0"/>
                <a:cs typeface="Times New Roman" pitchFamily="18" charset="0"/>
              </a:rPr>
              <a:t>    custom_model._make_predict_function() </a:t>
            </a:r>
          </a:p>
          <a:p>
            <a:pPr marL="0" indent="0">
              <a:buNone/>
            </a:pPr>
            <a:endParaRPr lang="en-IN" sz="1800" dirty="0">
              <a:latin typeface="Times New Roman" pitchFamily="18" charset="0"/>
              <a:cs typeface="Times New Roman" pitchFamily="18" charset="0"/>
            </a:endParaRPr>
          </a:p>
          <a:p>
            <a:pPr marL="0" indent="0">
              <a:buNone/>
            </a:pPr>
            <a:r>
              <a:rPr lang="en-IN" sz="1800" dirty="0">
                <a:latin typeface="Times New Roman" pitchFamily="18" charset="0"/>
                <a:cs typeface="Times New Roman" pitchFamily="18" charset="0"/>
              </a:rPr>
              <a:t>else:</a:t>
            </a:r>
          </a:p>
          <a:p>
            <a:pPr marL="0" indent="0">
              <a:buNone/>
            </a:pPr>
            <a:r>
              <a:rPr lang="en-IN" sz="1800" dirty="0">
                <a:latin typeface="Times New Roman" pitchFamily="18" charset="0"/>
                <a:cs typeface="Times New Roman" pitchFamily="18" charset="0"/>
              </a:rPr>
              <a:t>    custom_model = Sequential()#defining own model with different layers which contains 32 filters</a:t>
            </a:r>
          </a:p>
          <a:p>
            <a:pPr marL="0" indent="0">
              <a:buNone/>
            </a:pPr>
            <a:r>
              <a:rPr lang="en-IN" sz="1800" dirty="0">
                <a:latin typeface="Times New Roman" pitchFamily="18" charset="0"/>
                <a:cs typeface="Times New Roman" pitchFamily="18" charset="0"/>
              </a:rPr>
              <a:t>    custom_model.add(Convolution2D(32, 3, 3, input_shape = (X_train.shape[1], X_train.shape[2], X_train.shape[3]),    activation = 'relu'))</a:t>
            </a:r>
          </a:p>
          <a:p>
            <a:pPr marL="0" indent="0">
              <a:buNone/>
            </a:pPr>
            <a:r>
              <a:rPr lang="en-IN" sz="1800" dirty="0">
                <a:latin typeface="Times New Roman" pitchFamily="18" charset="0"/>
                <a:cs typeface="Times New Roman" pitchFamily="18" charset="0"/>
              </a:rPr>
              <a:t>    custom_model.add(MaxPooling2D(pool_size = (2, 2)))</a:t>
            </a:r>
          </a:p>
          <a:p>
            <a:pPr marL="0" indent="0">
              <a:buNone/>
            </a:pPr>
            <a:r>
              <a:rPr lang="en-IN" sz="1800" dirty="0">
                <a:latin typeface="Times New Roman" pitchFamily="18" charset="0"/>
                <a:cs typeface="Times New Roman" pitchFamily="18" charset="0"/>
              </a:rPr>
              <a:t>    custom_model.add(Convolution2D(32, 3, 3, activation = 'relu'))</a:t>
            </a:r>
          </a:p>
          <a:p>
            <a:pPr marL="0" indent="0">
              <a:buNone/>
            </a:pPr>
            <a:r>
              <a:rPr lang="en-IN" sz="1800" dirty="0">
                <a:latin typeface="Times New Roman" pitchFamily="18" charset="0"/>
                <a:cs typeface="Times New Roman" pitchFamily="18" charset="0"/>
              </a:rPr>
              <a:t>    custom_model.add(MaxPooling2D(pool_size = (2, 2)))</a:t>
            </a:r>
          </a:p>
          <a:p>
            <a:pPr marL="0" indent="0">
              <a:buNone/>
            </a:pPr>
            <a:r>
              <a:rPr lang="en-IN" sz="1800" dirty="0">
                <a:latin typeface="Times New Roman" pitchFamily="18" charset="0"/>
                <a:cs typeface="Times New Roman" pitchFamily="18" charset="0"/>
              </a:rPr>
              <a:t>    custom_model.add(Flatten())</a:t>
            </a:r>
          </a:p>
          <a:p>
            <a:pPr marL="0" indent="0">
              <a:buNone/>
            </a:pPr>
            <a:r>
              <a:rPr lang="en-US" sz="1800" dirty="0">
                <a:latin typeface="Times New Roman" pitchFamily="18" charset="0"/>
                <a:cs typeface="Times New Roman" pitchFamily="18" charset="0"/>
              </a:rPr>
              <a:t>    custom_model.add(Dense(output_dim = 256, activation = 'relu'))</a:t>
            </a:r>
          </a:p>
          <a:p>
            <a:pPr marL="0" indent="0">
              <a:buNone/>
            </a:pPr>
            <a:r>
              <a:rPr lang="en-US" sz="1800" dirty="0">
                <a:latin typeface="Times New Roman" pitchFamily="18" charset="0"/>
                <a:cs typeface="Times New Roman" pitchFamily="18" charset="0"/>
              </a:rPr>
              <a:t>    custom_model.add(Dense(output_dim = y_train.shape[1], activation = 'softmax'))</a:t>
            </a:r>
          </a:p>
          <a:p>
            <a:pPr marL="0" indent="0">
              <a:buNone/>
            </a:pPr>
            <a:r>
              <a:rPr lang="en-US" sz="1800" dirty="0">
                <a:latin typeface="Times New Roman" pitchFamily="18" charset="0"/>
                <a:cs typeface="Times New Roman" pitchFamily="18" charset="0"/>
              </a:rPr>
              <a:t>    custom_model.compile(optimizer = 'adam', loss = 'categorical_crossentropy', metrics = ['accuracy'])#compile model</a:t>
            </a:r>
          </a:p>
          <a:p>
            <a:pPr marL="0" indent="0">
              <a:buNone/>
            </a:pPr>
            <a:r>
              <a:rPr lang="en-US" sz="1800" dirty="0">
                <a:latin typeface="Times New Roman" pitchFamily="18" charset="0"/>
                <a:cs typeface="Times New Roman" pitchFamily="18" charset="0"/>
              </a:rPr>
              <a:t>    hist = custom_model.fit(X_train, y_train, batch_size=16, epochs=20, shuffle=True, verbose=2, validation_data=(X_test, y_test))</a:t>
            </a:r>
            <a:endParaRPr lang="en-IN" sz="18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30</a:t>
            </a:fld>
            <a:endParaRPr lang="en-IN" dirty="0"/>
          </a:p>
        </p:txBody>
      </p:sp>
    </p:spTree>
    <p:extLst>
      <p:ext uri="{BB962C8B-B14F-4D97-AF65-F5344CB8AC3E}">
        <p14:creationId xmlns:p14="http://schemas.microsoft.com/office/powerpoint/2010/main" val="34274609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1300" y="190500"/>
            <a:ext cx="11798300" cy="6451600"/>
          </a:xfrm>
        </p:spPr>
        <p:txBody>
          <a:bodyPr>
            <a:normAutofit fontScale="92500" lnSpcReduction="10000"/>
          </a:bodyPr>
          <a:lstStyle/>
          <a:p>
            <a:pPr marL="0" indent="0">
              <a:buNone/>
            </a:pPr>
            <a:r>
              <a:rPr lang="en-IN" sz="1800" dirty="0">
                <a:latin typeface="Times New Roman" pitchFamily="18" charset="0"/>
                <a:cs typeface="Times New Roman" pitchFamily="18" charset="0"/>
              </a:rPr>
              <a:t>custom_model.save_weights('model/custom_model_weights.h5')            </a:t>
            </a:r>
          </a:p>
          <a:p>
            <a:pPr marL="0" indent="0">
              <a:buNone/>
            </a:pPr>
            <a:r>
              <a:rPr lang="en-IN" sz="1800" dirty="0">
                <a:latin typeface="Times New Roman" pitchFamily="18" charset="0"/>
                <a:cs typeface="Times New Roman" pitchFamily="18" charset="0"/>
              </a:rPr>
              <a:t>    model_json = custom_model.to_json()</a:t>
            </a:r>
          </a:p>
          <a:p>
            <a:pPr marL="0" indent="0">
              <a:buNone/>
            </a:pPr>
            <a:r>
              <a:rPr lang="en-IN" sz="1800" dirty="0">
                <a:latin typeface="Times New Roman" pitchFamily="18" charset="0"/>
                <a:cs typeface="Times New Roman" pitchFamily="18" charset="0"/>
              </a:rPr>
              <a:t>    with open("model/custom_model.json", "w") as json_file:</a:t>
            </a:r>
          </a:p>
          <a:p>
            <a:pPr marL="0" indent="0">
              <a:buNone/>
            </a:pPr>
            <a:r>
              <a:rPr lang="en-IN" sz="1800" dirty="0">
                <a:latin typeface="Times New Roman" pitchFamily="18" charset="0"/>
                <a:cs typeface="Times New Roman" pitchFamily="18" charset="0"/>
              </a:rPr>
              <a:t>        json_file.write(model_json)</a:t>
            </a:r>
          </a:p>
          <a:p>
            <a:pPr marL="0" indent="0">
              <a:buNone/>
            </a:pPr>
            <a:r>
              <a:rPr lang="en-IN" sz="1800" dirty="0">
                <a:latin typeface="Times New Roman" pitchFamily="18" charset="0"/>
                <a:cs typeface="Times New Roman" pitchFamily="18" charset="0"/>
              </a:rPr>
              <a:t>    f = open('model/custom_history.pckl', 'wb')</a:t>
            </a:r>
          </a:p>
          <a:p>
            <a:pPr marL="0" indent="0">
              <a:buNone/>
            </a:pPr>
            <a:r>
              <a:rPr lang="en-IN" sz="1800" dirty="0">
                <a:latin typeface="Times New Roman" pitchFamily="18" charset="0"/>
                <a:cs typeface="Times New Roman" pitchFamily="18" charset="0"/>
              </a:rPr>
              <a:t>    pickle.dump(hist.history, f)</a:t>
            </a:r>
          </a:p>
          <a:p>
            <a:pPr marL="0" indent="0">
              <a:buNone/>
            </a:pPr>
            <a:r>
              <a:rPr lang="en-IN" sz="1800" dirty="0">
                <a:latin typeface="Times New Roman" pitchFamily="18" charset="0"/>
                <a:cs typeface="Times New Roman" pitchFamily="18" charset="0"/>
              </a:rPr>
              <a:t>    f.close()</a:t>
            </a:r>
          </a:p>
          <a:p>
            <a:pPr marL="0" indent="0">
              <a:buNone/>
            </a:pPr>
            <a:r>
              <a:rPr lang="en-IN" sz="1800" dirty="0">
                <a:latin typeface="Times New Roman" pitchFamily="18" charset="0"/>
                <a:cs typeface="Times New Roman" pitchFamily="18" charset="0"/>
              </a:rPr>
              <a:t>predict = custom_model.predict(X_test)</a:t>
            </a:r>
          </a:p>
          <a:p>
            <a:pPr marL="0" indent="0">
              <a:buNone/>
            </a:pPr>
            <a:r>
              <a:rPr lang="en-IN" sz="1800" dirty="0">
                <a:latin typeface="Times New Roman" pitchFamily="18" charset="0"/>
                <a:cs typeface="Times New Roman" pitchFamily="18" charset="0"/>
              </a:rPr>
              <a:t>predict = np.argmax(predict, axis=1)</a:t>
            </a:r>
          </a:p>
          <a:p>
            <a:pPr marL="0" indent="0">
              <a:buNone/>
            </a:pPr>
            <a:r>
              <a:rPr lang="en-IN" sz="1800" dirty="0">
                <a:latin typeface="Times New Roman" pitchFamily="18" charset="0"/>
                <a:cs typeface="Times New Roman" pitchFamily="18" charset="0"/>
              </a:rPr>
              <a:t>target = np.argmax(y_test, axis=1)    </a:t>
            </a:r>
          </a:p>
          <a:p>
            <a:pPr marL="0" indent="0">
              <a:buNone/>
            </a:pPr>
            <a:r>
              <a:rPr lang="en-IN" sz="1800" dirty="0">
                <a:latin typeface="Times New Roman" pitchFamily="18" charset="0"/>
                <a:cs typeface="Times New Roman" pitchFamily="18" charset="0"/>
              </a:rPr>
              <a:t>f = open('model/custom_history.pckl', 'rb')</a:t>
            </a:r>
          </a:p>
          <a:p>
            <a:pPr marL="0" indent="0">
              <a:buNone/>
            </a:pPr>
            <a:r>
              <a:rPr lang="en-IN" sz="1800" dirty="0">
                <a:latin typeface="Times New Roman" pitchFamily="18" charset="0"/>
                <a:cs typeface="Times New Roman" pitchFamily="18" charset="0"/>
              </a:rPr>
              <a:t>data = pickle.load(f)</a:t>
            </a:r>
          </a:p>
          <a:p>
            <a:pPr marL="0" indent="0">
              <a:buNone/>
            </a:pPr>
            <a:r>
              <a:rPr lang="en-IN" sz="1800" dirty="0">
                <a:latin typeface="Times New Roman" pitchFamily="18" charset="0"/>
                <a:cs typeface="Times New Roman" pitchFamily="18" charset="0"/>
              </a:rPr>
              <a:t>f.close()</a:t>
            </a:r>
          </a:p>
          <a:p>
            <a:pPr marL="0" indent="0">
              <a:buNone/>
            </a:pPr>
            <a:r>
              <a:rPr lang="en-US" sz="1800" dirty="0">
                <a:latin typeface="Times New Roman" pitchFamily="18" charset="0"/>
                <a:cs typeface="Times New Roman" pitchFamily="18" charset="0"/>
              </a:rPr>
              <a:t>acc = data['accuracy']</a:t>
            </a:r>
          </a:p>
          <a:p>
            <a:pPr marL="0" indent="0">
              <a:buNone/>
            </a:pPr>
            <a:r>
              <a:rPr lang="en-US" sz="1800" dirty="0">
                <a:latin typeface="Times New Roman" pitchFamily="18" charset="0"/>
                <a:cs typeface="Times New Roman" pitchFamily="18" charset="0"/>
              </a:rPr>
              <a:t>val_accuracy = data['val_accuracy']</a:t>
            </a:r>
          </a:p>
          <a:p>
            <a:pPr marL="0" indent="0">
              <a:buNone/>
            </a:pPr>
            <a:r>
              <a:rPr lang="en-US" sz="1800" dirty="0">
                <a:latin typeface="Times New Roman" pitchFamily="18" charset="0"/>
                <a:cs typeface="Times New Roman" pitchFamily="18" charset="0"/>
              </a:rPr>
              <a:t>plt.figure(figsize=(10,6))</a:t>
            </a:r>
          </a:p>
          <a:p>
            <a:pPr marL="0" indent="0">
              <a:buNone/>
            </a:pPr>
            <a:r>
              <a:rPr lang="en-US" sz="1800" dirty="0">
                <a:latin typeface="Times New Roman" pitchFamily="18" charset="0"/>
                <a:cs typeface="Times New Roman" pitchFamily="18" charset="0"/>
              </a:rPr>
              <a:t>plt.grid(True)</a:t>
            </a:r>
          </a:p>
          <a:p>
            <a:pPr marL="0" indent="0">
              <a:buNone/>
            </a:pPr>
            <a:r>
              <a:rPr lang="en-US" sz="1800" dirty="0">
                <a:latin typeface="Times New Roman" pitchFamily="18" charset="0"/>
                <a:cs typeface="Times New Roman" pitchFamily="18" charset="0"/>
              </a:rPr>
              <a:t>plt.xlabel('EPOCH')</a:t>
            </a:r>
            <a:endParaRPr lang="en-IN" sz="18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31</a:t>
            </a:fld>
            <a:endParaRPr lang="en-IN" dirty="0"/>
          </a:p>
        </p:txBody>
      </p:sp>
    </p:spTree>
    <p:extLst>
      <p:ext uri="{BB962C8B-B14F-4D97-AF65-F5344CB8AC3E}">
        <p14:creationId xmlns:p14="http://schemas.microsoft.com/office/powerpoint/2010/main" val="25821062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100" y="190500"/>
            <a:ext cx="11684000" cy="6464300"/>
          </a:xfrm>
        </p:spPr>
        <p:txBody>
          <a:bodyPr>
            <a:normAutofit/>
          </a:bodyPr>
          <a:lstStyle/>
          <a:p>
            <a:pPr marL="0" indent="0">
              <a:buNone/>
            </a:pPr>
            <a:r>
              <a:rPr lang="en-IN" sz="1800" dirty="0">
                <a:latin typeface="Times New Roman" pitchFamily="18" charset="0"/>
                <a:cs typeface="Times New Roman" pitchFamily="18" charset="0"/>
              </a:rPr>
              <a:t>plt.ylabel('Accuracy')</a:t>
            </a:r>
          </a:p>
          <a:p>
            <a:pPr marL="0" indent="0">
              <a:buNone/>
            </a:pPr>
            <a:r>
              <a:rPr lang="en-IN" sz="1800" dirty="0">
                <a:latin typeface="Times New Roman" pitchFamily="18" charset="0"/>
                <a:cs typeface="Times New Roman" pitchFamily="18" charset="0"/>
              </a:rPr>
              <a:t>plt.plot(acc, 'ro-', color = 'green')</a:t>
            </a:r>
          </a:p>
          <a:p>
            <a:pPr marL="0" indent="0">
              <a:buNone/>
            </a:pPr>
            <a:r>
              <a:rPr lang="en-IN" sz="1800" dirty="0">
                <a:latin typeface="Times New Roman" pitchFamily="18" charset="0"/>
                <a:cs typeface="Times New Roman" pitchFamily="18" charset="0"/>
              </a:rPr>
              <a:t>plt.plot(val_accuracy, 'ro-', color = 'blue')</a:t>
            </a:r>
          </a:p>
          <a:p>
            <a:pPr marL="0" indent="0">
              <a:buNone/>
            </a:pPr>
            <a:r>
              <a:rPr lang="en-IN" sz="1800" dirty="0">
                <a:latin typeface="Times New Roman" pitchFamily="18" charset="0"/>
                <a:cs typeface="Times New Roman" pitchFamily="18" charset="0"/>
              </a:rPr>
              <a:t>plt.legend(['Training Accuracy', 'Validation Accuracy'], loc='upper left')</a:t>
            </a:r>
          </a:p>
          <a:p>
            <a:pPr marL="0" indent="0">
              <a:buNone/>
            </a:pPr>
            <a:r>
              <a:rPr lang="en-IN" sz="1800" dirty="0">
                <a:latin typeface="Times New Roman" pitchFamily="18" charset="0"/>
                <a:cs typeface="Times New Roman" pitchFamily="18" charset="0"/>
              </a:rPr>
              <a:t>plt.title('Custom CNN Model Algorithm Training &amp; Validation Accuracy Graph')</a:t>
            </a:r>
          </a:p>
          <a:p>
            <a:pPr marL="0" indent="0">
              <a:buNone/>
            </a:pPr>
            <a:r>
              <a:rPr lang="en-IN" sz="1800" dirty="0">
                <a:latin typeface="Times New Roman" pitchFamily="18" charset="0"/>
                <a:cs typeface="Times New Roman" pitchFamily="18" charset="0"/>
              </a:rPr>
              <a:t>plt.show()</a:t>
            </a:r>
          </a:p>
          <a:p>
            <a:pPr marL="0" indent="0">
              <a:buNone/>
            </a:pPr>
            <a:r>
              <a:rPr lang="en-IN" sz="1800" dirty="0">
                <a:latin typeface="Times New Roman" pitchFamily="18" charset="0"/>
                <a:cs typeface="Times New Roman" pitchFamily="18" charset="0"/>
              </a:rPr>
              <a:t>calculateMetrics("Custom CNN Model", predict, target) </a:t>
            </a: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32</a:t>
            </a:fld>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1000" y="2768599"/>
            <a:ext cx="6360042" cy="3923051"/>
          </a:xfrm>
          <a:prstGeom prst="rect">
            <a:avLst/>
          </a:prstGeom>
        </p:spPr>
      </p:pic>
    </p:spTree>
    <p:extLst>
      <p:ext uri="{BB962C8B-B14F-4D97-AF65-F5344CB8AC3E}">
        <p14:creationId xmlns:p14="http://schemas.microsoft.com/office/powerpoint/2010/main" val="8301719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4000" y="228600"/>
            <a:ext cx="11709400" cy="6489700"/>
          </a:xfrm>
        </p:spPr>
        <p:txBody>
          <a:bodyPr>
            <a:normAutofit/>
          </a:bodyPr>
          <a:lstStyle/>
          <a:p>
            <a:pPr marL="0" indent="0">
              <a:buNone/>
            </a:pPr>
            <a:r>
              <a:rPr lang="en-IN" sz="1800" dirty="0">
                <a:latin typeface="Times New Roman" pitchFamily="18" charset="0"/>
                <a:cs typeface="Times New Roman" pitchFamily="18" charset="0"/>
              </a:rPr>
              <a:t>columns = ["Algorithm Name","Precison","Recall","FScore","Accuracy"]</a:t>
            </a:r>
          </a:p>
          <a:p>
            <a:pPr marL="0" indent="0">
              <a:buNone/>
            </a:pPr>
            <a:r>
              <a:rPr lang="en-IN" sz="1800" dirty="0">
                <a:latin typeface="Times New Roman" pitchFamily="18" charset="0"/>
                <a:cs typeface="Times New Roman" pitchFamily="18" charset="0"/>
              </a:rPr>
              <a:t>values = []</a:t>
            </a:r>
          </a:p>
          <a:p>
            <a:pPr marL="0" indent="0">
              <a:buNone/>
            </a:pPr>
            <a:r>
              <a:rPr lang="en-IN" sz="1800" dirty="0">
                <a:latin typeface="Times New Roman" pitchFamily="18" charset="0"/>
                <a:cs typeface="Times New Roman" pitchFamily="18" charset="0"/>
              </a:rPr>
              <a:t>algorithm_names = ["Resnet50","VGG16", 'Custom CNN']</a:t>
            </a:r>
          </a:p>
          <a:p>
            <a:pPr marL="0" indent="0">
              <a:buNone/>
            </a:pPr>
            <a:r>
              <a:rPr lang="en-IN" sz="1800" dirty="0">
                <a:latin typeface="Times New Roman" pitchFamily="18" charset="0"/>
                <a:cs typeface="Times New Roman" pitchFamily="18" charset="0"/>
              </a:rPr>
              <a:t>for i in range(len(algorithm_names)):</a:t>
            </a:r>
          </a:p>
          <a:p>
            <a:pPr marL="0" indent="0">
              <a:buNone/>
            </a:pPr>
            <a:r>
              <a:rPr lang="en-IN" sz="1800" dirty="0">
                <a:latin typeface="Times New Roman" pitchFamily="18" charset="0"/>
                <a:cs typeface="Times New Roman" pitchFamily="18" charset="0"/>
              </a:rPr>
              <a:t>    values.append([algorithm_names[i],precision[i],recall[i],fscore[i],accuracy[i]])</a:t>
            </a:r>
          </a:p>
          <a:p>
            <a:pPr marL="0" indent="0">
              <a:buNone/>
            </a:pPr>
            <a:r>
              <a:rPr lang="en-IN" sz="1800" dirty="0">
                <a:latin typeface="Times New Roman" pitchFamily="18" charset="0"/>
                <a:cs typeface="Times New Roman" pitchFamily="18" charset="0"/>
              </a:rPr>
              <a:t>temp = pd.DataFrame(values,columns=columns)</a:t>
            </a:r>
          </a:p>
          <a:p>
            <a:pPr marL="0" indent="0">
              <a:buNone/>
            </a:pPr>
            <a:r>
              <a:rPr lang="en-IN" sz="1800" dirty="0">
                <a:latin typeface="Times New Roman" pitchFamily="18" charset="0"/>
                <a:cs typeface="Times New Roman" pitchFamily="18" charset="0"/>
              </a:rPr>
              <a:t>display(temp)</a:t>
            </a: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33</a:t>
            </a:fld>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2500" y="3429000"/>
            <a:ext cx="5003800" cy="2082800"/>
          </a:xfrm>
          <a:prstGeom prst="rect">
            <a:avLst/>
          </a:prstGeom>
        </p:spPr>
      </p:pic>
    </p:spTree>
    <p:extLst>
      <p:ext uri="{BB962C8B-B14F-4D97-AF65-F5344CB8AC3E}">
        <p14:creationId xmlns:p14="http://schemas.microsoft.com/office/powerpoint/2010/main" val="17632765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idx="1"/>
          </p:nvPr>
        </p:nvSpPr>
        <p:spPr>
          <a:xfrm>
            <a:off x="254000" y="203200"/>
            <a:ext cx="11734800" cy="6464300"/>
          </a:xfrm>
        </p:spPr>
        <p:txBody>
          <a:bodyPr>
            <a:normAutofit lnSpcReduction="10000"/>
          </a:bodyPr>
          <a:lstStyle/>
          <a:p>
            <a:pPr marL="0" indent="0">
              <a:buNone/>
            </a:pPr>
            <a:r>
              <a:rPr lang="en-IN" sz="1800" dirty="0">
                <a:latin typeface="Times New Roman" pitchFamily="18" charset="0"/>
                <a:cs typeface="Times New Roman" pitchFamily="18" charset="0"/>
              </a:rPr>
              <a:t>for i in range(1,16):</a:t>
            </a:r>
          </a:p>
          <a:p>
            <a:pPr marL="0" indent="0">
              <a:buNone/>
            </a:pPr>
            <a:r>
              <a:rPr lang="en-IN" sz="1800" dirty="0">
                <a:latin typeface="Times New Roman" pitchFamily="18" charset="0"/>
                <a:cs typeface="Times New Roman" pitchFamily="18" charset="0"/>
              </a:rPr>
              <a:t>    image = cv2.imread('testImages/'+str(i)+".jpg")</a:t>
            </a:r>
          </a:p>
          <a:p>
            <a:pPr marL="0" indent="0">
              <a:buNone/>
            </a:pPr>
            <a:r>
              <a:rPr lang="en-IN" sz="1800" dirty="0">
                <a:latin typeface="Times New Roman" pitchFamily="18" charset="0"/>
                <a:cs typeface="Times New Roman" pitchFamily="18" charset="0"/>
              </a:rPr>
              <a:t>    img = cv2.resize(image, (80, 80))</a:t>
            </a:r>
          </a:p>
          <a:p>
            <a:pPr marL="0" indent="0">
              <a:buNone/>
            </a:pPr>
            <a:r>
              <a:rPr lang="en-IN" sz="1800" dirty="0">
                <a:latin typeface="Times New Roman" pitchFamily="18" charset="0"/>
                <a:cs typeface="Times New Roman" pitchFamily="18" charset="0"/>
              </a:rPr>
              <a:t>    im2arr = np.array(img)</a:t>
            </a:r>
          </a:p>
          <a:p>
            <a:pPr marL="0" indent="0">
              <a:buNone/>
            </a:pPr>
            <a:r>
              <a:rPr lang="en-IN" sz="1800" dirty="0">
                <a:latin typeface="Times New Roman" pitchFamily="18" charset="0"/>
                <a:cs typeface="Times New Roman" pitchFamily="18" charset="0"/>
              </a:rPr>
              <a:t>    im2arr = im2arr.reshape(1,80,80,3)</a:t>
            </a:r>
          </a:p>
          <a:p>
            <a:pPr marL="0" indent="0">
              <a:buNone/>
            </a:pPr>
            <a:r>
              <a:rPr lang="en-IN" sz="1800" dirty="0">
                <a:latin typeface="Times New Roman" pitchFamily="18" charset="0"/>
                <a:cs typeface="Times New Roman" pitchFamily="18" charset="0"/>
              </a:rPr>
              <a:t>    img = np.asarray(im2arr)</a:t>
            </a:r>
          </a:p>
          <a:p>
            <a:pPr marL="0" indent="0">
              <a:buNone/>
            </a:pPr>
            <a:r>
              <a:rPr lang="en-IN" sz="1800" dirty="0">
                <a:latin typeface="Times New Roman" pitchFamily="18" charset="0"/>
                <a:cs typeface="Times New Roman" pitchFamily="18" charset="0"/>
              </a:rPr>
              <a:t>    img = img.astype('float32')</a:t>
            </a:r>
          </a:p>
          <a:p>
            <a:pPr marL="0" indent="0">
              <a:buNone/>
            </a:pPr>
            <a:r>
              <a:rPr lang="en-IN" sz="1800" dirty="0">
                <a:latin typeface="Times New Roman" pitchFamily="18" charset="0"/>
                <a:cs typeface="Times New Roman" pitchFamily="18" charset="0"/>
              </a:rPr>
              <a:t>    img = img/255</a:t>
            </a:r>
          </a:p>
          <a:p>
            <a:pPr marL="0" indent="0">
              <a:buNone/>
            </a:pPr>
            <a:r>
              <a:rPr lang="en-IN" sz="1800" dirty="0">
                <a:latin typeface="Times New Roman" pitchFamily="18" charset="0"/>
                <a:cs typeface="Times New Roman" pitchFamily="18" charset="0"/>
              </a:rPr>
              <a:t>    preds = custom_model.predict(img)</a:t>
            </a:r>
          </a:p>
          <a:p>
            <a:pPr marL="0" indent="0">
              <a:buNone/>
            </a:pPr>
            <a:r>
              <a:rPr lang="en-IN" sz="1800" dirty="0">
                <a:latin typeface="Times New Roman" pitchFamily="18" charset="0"/>
                <a:cs typeface="Times New Roman" pitchFamily="18" charset="0"/>
              </a:rPr>
              <a:t>    predict = np.argmax(preds)</a:t>
            </a:r>
          </a:p>
          <a:p>
            <a:pPr marL="0" indent="0">
              <a:buNone/>
            </a:pPr>
            <a:r>
              <a:rPr lang="en-IN" sz="1800" dirty="0">
                <a:latin typeface="Times New Roman" pitchFamily="18" charset="0"/>
                <a:cs typeface="Times New Roman" pitchFamily="18" charset="0"/>
              </a:rPr>
              <a:t>    score = np.amax(preds)</a:t>
            </a:r>
          </a:p>
          <a:p>
            <a:pPr marL="0" indent="0">
              <a:buNone/>
            </a:pPr>
            <a:r>
              <a:rPr lang="en-IN" sz="1800" dirty="0">
                <a:latin typeface="Times New Roman" pitchFamily="18" charset="0"/>
                <a:cs typeface="Times New Roman" pitchFamily="18" charset="0"/>
              </a:rPr>
              <a:t>    img = cv2.imread('testImages/'+str(i)+".jpg")</a:t>
            </a:r>
          </a:p>
          <a:p>
            <a:pPr marL="0" indent="0">
              <a:buNone/>
            </a:pPr>
            <a:r>
              <a:rPr lang="en-IN" sz="1800" dirty="0">
                <a:latin typeface="Times New Roman" pitchFamily="18" charset="0"/>
                <a:cs typeface="Times New Roman" pitchFamily="18" charset="0"/>
              </a:rPr>
              <a:t>    img = cv2.resize(img, (600,400))</a:t>
            </a:r>
          </a:p>
          <a:p>
            <a:pPr marL="0" indent="0">
              <a:buNone/>
            </a:pPr>
            <a:r>
              <a:rPr lang="en-IN" sz="1800" dirty="0">
                <a:latin typeface="Times New Roman" pitchFamily="18" charset="0"/>
                <a:cs typeface="Times New Roman" pitchFamily="18" charset="0"/>
              </a:rPr>
              <a:t>    cv2.putText(img, classes[predict], (10, 25),  cv2.FONT_HERSHEY_SIMPLEX,0.7, (0, 0, 0), 2)</a:t>
            </a:r>
          </a:p>
          <a:p>
            <a:pPr marL="0" indent="0">
              <a:buNone/>
            </a:pPr>
            <a:r>
              <a:rPr lang="en-IN" sz="1800" dirty="0">
                <a:latin typeface="Times New Roman" pitchFamily="18" charset="0"/>
                <a:cs typeface="Times New Roman" pitchFamily="18" charset="0"/>
              </a:rPr>
              <a:t>    #plt.title('Prediction by the model : '+labels[predict])</a:t>
            </a:r>
          </a:p>
          <a:p>
            <a:pPr marL="0" indent="0">
              <a:buNone/>
            </a:pPr>
            <a:r>
              <a:rPr lang="en-IN" sz="1800" dirty="0">
                <a:latin typeface="Times New Roman" pitchFamily="18" charset="0"/>
                <a:cs typeface="Times New Roman" pitchFamily="18" charset="0"/>
              </a:rPr>
              <a:t>    plt.figure(figsize=(8,8))</a:t>
            </a:r>
          </a:p>
          <a:p>
            <a:pPr marL="0" indent="0">
              <a:buNone/>
            </a:pPr>
            <a:r>
              <a:rPr lang="en-IN" sz="1800" dirty="0">
                <a:latin typeface="Times New Roman" pitchFamily="18" charset="0"/>
                <a:cs typeface="Times New Roman" pitchFamily="18" charset="0"/>
              </a:rPr>
              <a:t>    plt.imshow(img)</a:t>
            </a: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34</a:t>
            </a:fld>
            <a:endParaRPr lang="en-IN" dirty="0"/>
          </a:p>
        </p:txBody>
      </p:sp>
    </p:spTree>
    <p:extLst>
      <p:ext uri="{BB962C8B-B14F-4D97-AF65-F5344CB8AC3E}">
        <p14:creationId xmlns:p14="http://schemas.microsoft.com/office/powerpoint/2010/main" val="29388455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9475"/>
          </a:xfrm>
        </p:spPr>
        <p:txBody>
          <a:bodyPr>
            <a:normAutofit/>
          </a:bodyPr>
          <a:lstStyle/>
          <a:p>
            <a:pPr algn="ctr"/>
            <a:r>
              <a:rPr lang="en-IN" sz="3600" b="1" dirty="0">
                <a:latin typeface="Times New Roman" pitchFamily="18" charset="0"/>
                <a:cs typeface="Times New Roman" pitchFamily="18" charset="0"/>
              </a:rPr>
              <a:t>RESULTS OBTAINED</a:t>
            </a:r>
          </a:p>
        </p:txBody>
      </p:sp>
      <p:pic>
        <p:nvPicPr>
          <p:cNvPr id="10" name="Content Placeholder 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6109" y="1427030"/>
            <a:ext cx="5239481" cy="1895740"/>
          </a:xfrm>
        </p:spPr>
      </p:pic>
      <p:sp>
        <p:nvSpPr>
          <p:cNvPr id="4" name="Date Placeholder 3" hidden="1"/>
          <p:cNvSpPr>
            <a:spLocks noGrp="1"/>
          </p:cNvSpPr>
          <p:nvPr>
            <p:ph type="dt" sz="half" idx="10"/>
          </p:nvPr>
        </p:nvSpPr>
        <p:spPr/>
        <p:txBody>
          <a:bodyPr/>
          <a:lstStyle/>
          <a:p>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35</a:t>
            </a:fld>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5025" y="3733800"/>
            <a:ext cx="5420481" cy="2029108"/>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5506" y="1458777"/>
            <a:ext cx="5277587" cy="1933845"/>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5506" y="3733800"/>
            <a:ext cx="5353797" cy="2029108"/>
          </a:xfrm>
          <a:prstGeom prst="rect">
            <a:avLst/>
          </a:prstGeom>
        </p:spPr>
      </p:pic>
    </p:spTree>
    <p:extLst>
      <p:ext uri="{BB962C8B-B14F-4D97-AF65-F5344CB8AC3E}">
        <p14:creationId xmlns:p14="http://schemas.microsoft.com/office/powerpoint/2010/main" val="4404628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9975"/>
          </a:xfrm>
        </p:spPr>
        <p:txBody>
          <a:bodyPr>
            <a:normAutofit/>
          </a:bodyPr>
          <a:lstStyle/>
          <a:p>
            <a:pPr algn="ctr"/>
            <a:r>
              <a:rPr lang="en-IN" sz="3600" b="1" dirty="0">
                <a:latin typeface="Times New Roman" pitchFamily="18" charset="0"/>
                <a:cs typeface="Times New Roman" pitchFamily="18" charset="0"/>
              </a:rPr>
              <a:t>RESULTS OBTAINED</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0628" y="1200004"/>
            <a:ext cx="5334744" cy="2095792"/>
          </a:xfrm>
        </p:spPr>
      </p:pic>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36</a:t>
            </a:fld>
            <a:endParaRPr lang="en-IN"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8" y="1237960"/>
            <a:ext cx="5296639" cy="2076740"/>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3349" y="3617771"/>
            <a:ext cx="5210902" cy="1981477"/>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5999" y="3646350"/>
            <a:ext cx="5410955" cy="1952898"/>
          </a:xfrm>
          <a:prstGeom prst="rect">
            <a:avLst/>
          </a:prstGeom>
        </p:spPr>
      </p:pic>
    </p:spTree>
    <p:extLst>
      <p:ext uri="{BB962C8B-B14F-4D97-AF65-F5344CB8AC3E}">
        <p14:creationId xmlns:p14="http://schemas.microsoft.com/office/powerpoint/2010/main" val="12728224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1875"/>
          </a:xfrm>
        </p:spPr>
        <p:txBody>
          <a:bodyPr>
            <a:normAutofit/>
          </a:bodyPr>
          <a:lstStyle/>
          <a:p>
            <a:pPr algn="ctr"/>
            <a:r>
              <a:rPr lang="en-US" sz="3600" b="1" dirty="0">
                <a:latin typeface="Times New Roman" pitchFamily="18" charset="0"/>
                <a:cs typeface="Times New Roman" pitchFamily="18" charset="0"/>
              </a:rPr>
              <a:t>PERFORMANCE EVALUATION</a:t>
            </a:r>
            <a:endParaRPr lang="en-IN"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635000" y="1193800"/>
            <a:ext cx="10718800" cy="4978400"/>
          </a:xfrm>
        </p:spPr>
        <p:txBody>
          <a:bodyPr>
            <a:noAutofit/>
          </a:bodyPr>
          <a:lstStyle/>
          <a:p>
            <a:pPr marL="342900" indent="-342900" algn="just">
              <a:lnSpc>
                <a:spcPct val="150000"/>
              </a:lnSpc>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sym typeface="+mn-ea"/>
              </a:rPr>
              <a:t>We as a team collectively worked together in order to meet the requirements of the project.</a:t>
            </a:r>
            <a:endParaRPr 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342900" indent="-342900" algn="just">
              <a:lnSpc>
                <a:spcPct val="150000"/>
              </a:lnSpc>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sym typeface="+mn-ea"/>
              </a:rPr>
              <a:t>Each member of the team actively participated to make the project successful.</a:t>
            </a:r>
            <a:endParaRPr 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342900" indent="-342900" algn="just">
              <a:lnSpc>
                <a:spcPct val="150000"/>
              </a:lnSpc>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sym typeface="+mn-ea"/>
              </a:rPr>
              <a:t>We worked according to the plan we had before starting the project.</a:t>
            </a:r>
            <a:endParaRPr 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342900" indent="-342900" algn="just">
              <a:lnSpc>
                <a:spcPct val="150000"/>
              </a:lnSpc>
            </a:pPr>
            <a:r>
              <a:rPr lang="en-IN" sz="2400" dirty="0">
                <a:latin typeface="Times New Roman" panose="02020603050405020304" pitchFamily="18" charset="0"/>
                <a:cs typeface="Times New Roman" panose="02020603050405020304" pitchFamily="18" charset="0"/>
                <a:sym typeface="+mn-ea"/>
              </a:rPr>
              <a:t>We examined the current counterfeit currency and problems caused by it and tried to focus on the problems and worked on getting an solution to them by this DEEP LEARNING FOR INDIAN CURRENCY CLASSIFICATION AND FAKE CURRENCY DETECTION.</a:t>
            </a:r>
            <a:endParaRPr lang="en-IN" sz="2400" dirty="0">
              <a:latin typeface="Times New Roman" panose="02020603050405020304" pitchFamily="18" charset="0"/>
              <a:cs typeface="Times New Roman" panose="02020603050405020304" pitchFamily="18" charset="0"/>
            </a:endParaRPr>
          </a:p>
          <a:p>
            <a:endParaRPr lang="en-IN" sz="2400" dirty="0"/>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37</a:t>
            </a:fld>
            <a:endParaRPr lang="en-IN" dirty="0"/>
          </a:p>
        </p:txBody>
      </p:sp>
    </p:spTree>
    <p:extLst>
      <p:ext uri="{BB962C8B-B14F-4D97-AF65-F5344CB8AC3E}">
        <p14:creationId xmlns:p14="http://schemas.microsoft.com/office/powerpoint/2010/main" val="15171870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Times New Roman" pitchFamily="18" charset="0"/>
                <a:ea typeface="Tahoma" pitchFamily="34" charset="0"/>
                <a:cs typeface="Times New Roman" pitchFamily="18" charset="0"/>
              </a:rPr>
              <a:t>CONCLUSION</a:t>
            </a:r>
            <a:endParaRPr lang="en-IN" sz="3600" b="1" dirty="0">
              <a:latin typeface="Times New Roman" pitchFamily="18" charset="0"/>
              <a:ea typeface="Tahoma" pitchFamily="34" charset="0"/>
              <a:cs typeface="Times New Roman" pitchFamily="18" charset="0"/>
            </a:endParaRPr>
          </a:p>
        </p:txBody>
      </p:sp>
      <p:sp>
        <p:nvSpPr>
          <p:cNvPr id="3" name="Content Placeholder 2"/>
          <p:cNvSpPr>
            <a:spLocks noGrp="1"/>
          </p:cNvSpPr>
          <p:nvPr>
            <p:ph idx="1"/>
          </p:nvPr>
        </p:nvSpPr>
        <p:spPr>
          <a:xfrm>
            <a:off x="838200" y="1549400"/>
            <a:ext cx="10515600" cy="4627563"/>
          </a:xfrm>
        </p:spPr>
        <p:txBody>
          <a:bodyPr>
            <a:normAutofit/>
          </a:bodyPr>
          <a:lstStyle/>
          <a:p>
            <a:pPr marL="0" indent="0" algn="just">
              <a:buNone/>
            </a:pPr>
            <a:r>
              <a:rPr lang="en-US" sz="2400" dirty="0">
                <a:latin typeface="Times New Roman" pitchFamily="18" charset="0"/>
                <a:cs typeface="Times New Roman" pitchFamily="18" charset="0"/>
              </a:rPr>
              <a:t>	It is an ever raising issue for research community to identify and detect the counterfeit currency with best possible solution. As there are many techniques that are developed and implemented majorly falls under the area of image processing pattern recognition. The detection of currency will be more accurate using currency characteristics and features that are learned through layer by layer using CNN model as a feature extractor. After extracting its features in depth and they are analyzed using deep learning models and compared for more accuracy to get accurate results thereby identifying the counterfeited currency and classifying the currency. </a:t>
            </a:r>
            <a:endParaRPr lang="en-IN" sz="24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38</a:t>
            </a:fld>
            <a:endParaRPr lang="en-IN" dirty="0"/>
          </a:p>
        </p:txBody>
      </p:sp>
    </p:spTree>
    <p:extLst>
      <p:ext uri="{BB962C8B-B14F-4D97-AF65-F5344CB8AC3E}">
        <p14:creationId xmlns:p14="http://schemas.microsoft.com/office/powerpoint/2010/main" val="38213028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Times New Roman" pitchFamily="18" charset="0"/>
                <a:cs typeface="Times New Roman" pitchFamily="18" charset="0"/>
              </a:rPr>
              <a:t>FUTURE SCOPE</a:t>
            </a:r>
            <a:endParaRPr lang="en-IN" sz="36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0" indent="0" algn="just">
              <a:buNone/>
            </a:pPr>
            <a:r>
              <a:rPr lang="en-US" sz="2400" dirty="0">
                <a:latin typeface="Times New Roman" pitchFamily="18" charset="0"/>
                <a:cs typeface="Times New Roman" pitchFamily="18" charset="0"/>
              </a:rPr>
              <a:t>	In our project we are testing the system by clicking and uploading the picture of a currency note. But to make the system more convenient we can add a camera to recognize, analyze the currency note directly. We can also implement a voice assisting technology for blind people</a:t>
            </a:r>
            <a:r>
              <a:rPr lang="en-US" dirty="0"/>
              <a:t>. </a:t>
            </a:r>
            <a:endParaRPr lang="en-IN" dirty="0"/>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39</a:t>
            </a:fld>
            <a:endParaRPr lang="en-IN" dirty="0"/>
          </a:p>
        </p:txBody>
      </p:sp>
    </p:spTree>
    <p:extLst>
      <p:ext uri="{BB962C8B-B14F-4D97-AF65-F5344CB8AC3E}">
        <p14:creationId xmlns:p14="http://schemas.microsoft.com/office/powerpoint/2010/main" val="4278527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3670"/>
            <a:ext cx="10515600" cy="1296035"/>
          </a:xfrm>
        </p:spPr>
        <p:txBody>
          <a:bodyPr/>
          <a:lstStyle/>
          <a:p>
            <a:pPr algn="ctr"/>
            <a:r>
              <a:rPr lang="en-IN" altLang="en-US" sz="3600" b="1" dirty="0">
                <a:latin typeface="Times New Roman" panose="02020603050405020304" pitchFamily="18" charset="0"/>
                <a:cs typeface="Times New Roman" panose="02020603050405020304" pitchFamily="18" charset="0"/>
              </a:rPr>
              <a:t>   CONTRIBUTION</a:t>
            </a:r>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971784130"/>
              </p:ext>
            </p:extLst>
          </p:nvPr>
        </p:nvGraphicFramePr>
        <p:xfrm>
          <a:off x="597535" y="1343660"/>
          <a:ext cx="11318875" cy="4294505"/>
        </p:xfrm>
        <a:graphic>
          <a:graphicData uri="http://schemas.openxmlformats.org/drawingml/2006/table">
            <a:tbl>
              <a:tblPr firstRow="1" bandRow="1">
                <a:tableStyleId>{5C22544A-7EE6-4342-B048-85BDC9FD1C3A}</a:tableStyleId>
              </a:tblPr>
              <a:tblGrid>
                <a:gridCol w="2263775">
                  <a:extLst>
                    <a:ext uri="{9D8B030D-6E8A-4147-A177-3AD203B41FA5}">
                      <a16:colId xmlns:a16="http://schemas.microsoft.com/office/drawing/2014/main" val="20000"/>
                    </a:ext>
                  </a:extLst>
                </a:gridCol>
                <a:gridCol w="2263775">
                  <a:extLst>
                    <a:ext uri="{9D8B030D-6E8A-4147-A177-3AD203B41FA5}">
                      <a16:colId xmlns:a16="http://schemas.microsoft.com/office/drawing/2014/main" val="20001"/>
                    </a:ext>
                  </a:extLst>
                </a:gridCol>
                <a:gridCol w="2263775">
                  <a:extLst>
                    <a:ext uri="{9D8B030D-6E8A-4147-A177-3AD203B41FA5}">
                      <a16:colId xmlns:a16="http://schemas.microsoft.com/office/drawing/2014/main" val="20002"/>
                    </a:ext>
                  </a:extLst>
                </a:gridCol>
                <a:gridCol w="2263775">
                  <a:extLst>
                    <a:ext uri="{9D8B030D-6E8A-4147-A177-3AD203B41FA5}">
                      <a16:colId xmlns:a16="http://schemas.microsoft.com/office/drawing/2014/main" val="20003"/>
                    </a:ext>
                  </a:extLst>
                </a:gridCol>
                <a:gridCol w="2263775">
                  <a:extLst>
                    <a:ext uri="{9D8B030D-6E8A-4147-A177-3AD203B41FA5}">
                      <a16:colId xmlns:a16="http://schemas.microsoft.com/office/drawing/2014/main" val="20004"/>
                    </a:ext>
                  </a:extLst>
                </a:gridCol>
              </a:tblGrid>
              <a:tr h="1252220">
                <a:tc>
                  <a:txBody>
                    <a:bodyPr/>
                    <a:lstStyle/>
                    <a:p>
                      <a:pPr>
                        <a:buNone/>
                      </a:pPr>
                      <a:endParaRPr lang="en-US" dirty="0"/>
                    </a:p>
                    <a:p>
                      <a:pPr>
                        <a:buNone/>
                      </a:pPr>
                      <a:endParaRPr lang="en-US" dirty="0"/>
                    </a:p>
                    <a:p>
                      <a:pPr algn="ctr">
                        <a:buNone/>
                      </a:pPr>
                      <a:r>
                        <a:rPr lang="en-IN" altLang="en-US" sz="2400" dirty="0">
                          <a:latin typeface="Times New Roman" panose="02020603050405020304" pitchFamily="18" charset="0"/>
                          <a:cs typeface="Times New Roman" panose="02020603050405020304" pitchFamily="18" charset="0"/>
                        </a:rPr>
                        <a:t>PARAMETER</a:t>
                      </a:r>
                      <a:endParaRPr lang="en-US" sz="2400" dirty="0">
                        <a:latin typeface="Times New Roman" panose="02020603050405020304" pitchFamily="18" charset="0"/>
                        <a:cs typeface="Times New Roman" panose="02020603050405020304" pitchFamily="18" charset="0"/>
                      </a:endParaRPr>
                    </a:p>
                    <a:p>
                      <a:pPr>
                        <a:buNone/>
                      </a:pPr>
                      <a:endParaRPr lang="en-IN" altLang="en-US" sz="2400" dirty="0">
                        <a:latin typeface="Times New Roman" panose="02020603050405020304" pitchFamily="18" charset="0"/>
                        <a:cs typeface="Times New Roman" panose="02020603050405020304" pitchFamily="18" charset="0"/>
                      </a:endParaRPr>
                    </a:p>
                  </a:txBody>
                  <a:tcPr/>
                </a:tc>
                <a:tc>
                  <a:txBody>
                    <a:bodyPr/>
                    <a:lstStyle/>
                    <a:p>
                      <a:pPr>
                        <a:buNone/>
                      </a:pPr>
                      <a:endParaRPr lang="en-US" dirty="0"/>
                    </a:p>
                    <a:p>
                      <a:pPr>
                        <a:buNone/>
                      </a:pPr>
                      <a:endParaRPr lang="en-US" dirty="0"/>
                    </a:p>
                    <a:p>
                      <a:pPr>
                        <a:buNone/>
                      </a:pPr>
                      <a:r>
                        <a:rPr lang="en-IN" altLang="en-US" sz="2800" dirty="0">
                          <a:latin typeface="Times New Roman" panose="02020603050405020304" pitchFamily="18" charset="0"/>
                          <a:cs typeface="Times New Roman" panose="02020603050405020304" pitchFamily="18" charset="0"/>
                        </a:rPr>
                        <a:t>19K81A04K8</a:t>
                      </a:r>
                    </a:p>
                  </a:txBody>
                  <a:tcPr/>
                </a:tc>
                <a:tc>
                  <a:txBody>
                    <a:bodyPr/>
                    <a:lstStyle/>
                    <a:p>
                      <a:pPr>
                        <a:buNone/>
                      </a:pPr>
                      <a:endParaRPr lang="en-US" dirty="0"/>
                    </a:p>
                    <a:p>
                      <a:pPr>
                        <a:buNone/>
                      </a:pPr>
                      <a:endParaRPr lang="en-US" dirty="0"/>
                    </a:p>
                    <a:p>
                      <a:pPr>
                        <a:buNone/>
                      </a:pPr>
                      <a:r>
                        <a:rPr lang="en-IN" altLang="en-US" sz="2800" dirty="0">
                          <a:latin typeface="Times New Roman" panose="02020603050405020304" pitchFamily="18" charset="0"/>
                          <a:cs typeface="Times New Roman" panose="02020603050405020304" pitchFamily="18" charset="0"/>
                        </a:rPr>
                        <a:t>19K81A04K5</a:t>
                      </a:r>
                    </a:p>
                  </a:txBody>
                  <a:tcPr/>
                </a:tc>
                <a:tc>
                  <a:txBody>
                    <a:bodyPr/>
                    <a:lstStyle/>
                    <a:p>
                      <a:pPr>
                        <a:buNone/>
                      </a:pPr>
                      <a:endParaRPr lang="en-US" dirty="0"/>
                    </a:p>
                    <a:p>
                      <a:pPr>
                        <a:buNone/>
                      </a:pPr>
                      <a:endParaRPr lang="en-US" dirty="0"/>
                    </a:p>
                    <a:p>
                      <a:pPr>
                        <a:buNone/>
                      </a:pPr>
                      <a:r>
                        <a:rPr lang="en-IN" altLang="en-US" sz="2800" dirty="0">
                          <a:latin typeface="Times New Roman" panose="02020603050405020304" pitchFamily="18" charset="0"/>
                          <a:cs typeface="Times New Roman" panose="02020603050405020304" pitchFamily="18" charset="0"/>
                          <a:sym typeface="+mn-ea"/>
                        </a:rPr>
                        <a:t>19K81A04L0</a:t>
                      </a:r>
                      <a:endParaRPr lang="en-IN" altLang="en-US" sz="2800" dirty="0">
                        <a:latin typeface="Times New Roman" panose="02020603050405020304" pitchFamily="18" charset="0"/>
                        <a:cs typeface="Times New Roman" panose="02020603050405020304" pitchFamily="18" charset="0"/>
                      </a:endParaRPr>
                    </a:p>
                    <a:p>
                      <a:pPr>
                        <a:buNone/>
                      </a:pPr>
                      <a:endParaRPr lang="en-IN" altLang="en-US" sz="2800" dirty="0">
                        <a:latin typeface="Times New Roman" panose="02020603050405020304" pitchFamily="18" charset="0"/>
                        <a:cs typeface="Times New Roman" panose="02020603050405020304" pitchFamily="18" charset="0"/>
                      </a:endParaRPr>
                    </a:p>
                  </a:txBody>
                  <a:tcPr/>
                </a:tc>
                <a:tc>
                  <a:txBody>
                    <a:bodyPr/>
                    <a:lstStyle/>
                    <a:p>
                      <a:pPr>
                        <a:buNone/>
                      </a:pPr>
                      <a:endParaRPr lang="en-US" dirty="0"/>
                    </a:p>
                    <a:p>
                      <a:pPr>
                        <a:buNone/>
                      </a:pPr>
                      <a:endParaRPr lang="en-US" dirty="0"/>
                    </a:p>
                    <a:p>
                      <a:pPr>
                        <a:buNone/>
                      </a:pPr>
                      <a:r>
                        <a:rPr lang="en-IN" altLang="en-US" sz="2800" dirty="0">
                          <a:latin typeface="Times New Roman" panose="02020603050405020304" pitchFamily="18" charset="0"/>
                          <a:cs typeface="Times New Roman" panose="02020603050405020304" pitchFamily="18" charset="0"/>
                          <a:sym typeface="+mn-ea"/>
                        </a:rPr>
                        <a:t>18K81A0464</a:t>
                      </a:r>
                      <a:endParaRPr lang="en-IN" altLang="en-US" sz="2800" dirty="0">
                        <a:latin typeface="Times New Roman" panose="02020603050405020304" pitchFamily="18" charset="0"/>
                        <a:cs typeface="Times New Roman" panose="02020603050405020304" pitchFamily="18" charset="0"/>
                      </a:endParaRPr>
                    </a:p>
                    <a:p>
                      <a:pPr>
                        <a:buNone/>
                      </a:pPr>
                      <a:endParaRPr lang="en-IN" altLang="en-US"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934720">
                <a:tc>
                  <a:txBody>
                    <a:bodyPr/>
                    <a:lstStyle/>
                    <a:p>
                      <a:pPr>
                        <a:buNone/>
                      </a:pPr>
                      <a:r>
                        <a:rPr lang="en-IN" altLang="en-US" dirty="0"/>
                        <a:t> </a:t>
                      </a:r>
                      <a:r>
                        <a:rPr lang="en-IN" altLang="en-US" dirty="0">
                          <a:latin typeface="Times New Roman" panose="02020603050405020304" pitchFamily="18" charset="0"/>
                          <a:cs typeface="Times New Roman" panose="02020603050405020304" pitchFamily="18" charset="0"/>
                        </a:rPr>
                        <a:t>Literature survey</a:t>
                      </a:r>
                    </a:p>
                  </a:txBody>
                  <a:tcPr>
                    <a:solidFill>
                      <a:schemeClr val="accent5">
                        <a:lumMod val="40000"/>
                        <a:lumOff val="60000"/>
                      </a:schemeClr>
                    </a:solidFill>
                  </a:tcPr>
                </a:tc>
                <a:tc>
                  <a:txBody>
                    <a:bodyPr/>
                    <a:lstStyle/>
                    <a:p>
                      <a:pPr algn="ctr">
                        <a:buNone/>
                      </a:pPr>
                      <a:r>
                        <a:rPr lang="en-IN" altLang="en-US" dirty="0">
                          <a:latin typeface="Times New Roman" panose="02020603050405020304" pitchFamily="18" charset="0"/>
                          <a:cs typeface="Times New Roman" panose="02020603050405020304" pitchFamily="18" charset="0"/>
                        </a:rPr>
                        <a:t>Studied about</a:t>
                      </a:r>
                    </a:p>
                    <a:p>
                      <a:pPr algn="ctr">
                        <a:buNone/>
                      </a:pPr>
                      <a:r>
                        <a:rPr lang="en-IN" altLang="en-US" dirty="0">
                          <a:latin typeface="Times New Roman" panose="02020603050405020304" pitchFamily="18" charset="0"/>
                          <a:cs typeface="Times New Roman" panose="02020603050405020304" pitchFamily="18" charset="0"/>
                        </a:rPr>
                        <a:t>CNN</a:t>
                      </a:r>
                    </a:p>
                  </a:txBody>
                  <a:tcPr>
                    <a:solidFill>
                      <a:schemeClr val="accent5">
                        <a:lumMod val="40000"/>
                        <a:lumOff val="60000"/>
                      </a:schemeClr>
                    </a:solidFill>
                  </a:tcPr>
                </a:tc>
                <a:tc>
                  <a:txBody>
                    <a:bodyPr/>
                    <a:lstStyle/>
                    <a:p>
                      <a:pPr algn="ctr">
                        <a:buNone/>
                      </a:pPr>
                      <a:r>
                        <a:rPr lang="en-IN" altLang="en-US" dirty="0">
                          <a:latin typeface="Times New Roman" pitchFamily="18" charset="0"/>
                          <a:cs typeface="Times New Roman" pitchFamily="18" charset="0"/>
                        </a:rPr>
                        <a:t>Studied about</a:t>
                      </a:r>
                    </a:p>
                    <a:p>
                      <a:pPr algn="ctr">
                        <a:buNone/>
                      </a:pPr>
                      <a:r>
                        <a:rPr lang="en-US" altLang="en-US" dirty="0">
                          <a:latin typeface="Times New Roman" pitchFamily="18" charset="0"/>
                          <a:cs typeface="Times New Roman" pitchFamily="18" charset="0"/>
                        </a:rPr>
                        <a:t>Residual</a:t>
                      </a:r>
                      <a:r>
                        <a:rPr lang="en-US" altLang="en-US" baseline="0" dirty="0">
                          <a:latin typeface="Times New Roman" pitchFamily="18" charset="0"/>
                          <a:cs typeface="Times New Roman" pitchFamily="18" charset="0"/>
                        </a:rPr>
                        <a:t> Networks</a:t>
                      </a:r>
                      <a:endParaRPr lang="en-IN" altLang="en-US" dirty="0">
                        <a:latin typeface="Times New Roman" pitchFamily="18" charset="0"/>
                        <a:cs typeface="Times New Roman" pitchFamily="18" charset="0"/>
                      </a:endParaRPr>
                    </a:p>
                  </a:txBody>
                  <a:tcPr>
                    <a:solidFill>
                      <a:schemeClr val="accent5">
                        <a:lumMod val="40000"/>
                        <a:lumOff val="60000"/>
                      </a:schemeClr>
                    </a:solidFill>
                  </a:tcPr>
                </a:tc>
                <a:tc>
                  <a:txBody>
                    <a:bodyPr/>
                    <a:lstStyle/>
                    <a:p>
                      <a:pPr algn="ctr">
                        <a:buNone/>
                      </a:pPr>
                      <a:r>
                        <a:rPr lang="en-IN" altLang="en-US" dirty="0">
                          <a:latin typeface="Times New Roman" pitchFamily="18" charset="0"/>
                          <a:cs typeface="Times New Roman" pitchFamily="18" charset="0"/>
                        </a:rPr>
                        <a:t>Studied about</a:t>
                      </a:r>
                    </a:p>
                    <a:p>
                      <a:pPr algn="ctr">
                        <a:buNone/>
                      </a:pPr>
                      <a:r>
                        <a:rPr lang="en-US" altLang="en-US" dirty="0">
                          <a:latin typeface="Times New Roman" pitchFamily="18" charset="0"/>
                          <a:cs typeface="Times New Roman" pitchFamily="18" charset="0"/>
                        </a:rPr>
                        <a:t>Existing</a:t>
                      </a:r>
                      <a:r>
                        <a:rPr lang="en-US" altLang="en-US" baseline="0" dirty="0">
                          <a:latin typeface="Times New Roman" pitchFamily="18" charset="0"/>
                          <a:cs typeface="Times New Roman" pitchFamily="18" charset="0"/>
                        </a:rPr>
                        <a:t> ML algorithms SVM</a:t>
                      </a:r>
                      <a:endParaRPr lang="en-IN" altLang="en-US" dirty="0">
                        <a:latin typeface="Times New Roman" pitchFamily="18" charset="0"/>
                        <a:cs typeface="Times New Roman" pitchFamily="18" charset="0"/>
                      </a:endParaRPr>
                    </a:p>
                  </a:txBody>
                  <a:tcPr>
                    <a:solidFill>
                      <a:schemeClr val="accent5">
                        <a:lumMod val="40000"/>
                        <a:lumOff val="60000"/>
                      </a:schemeClr>
                    </a:solidFill>
                  </a:tcPr>
                </a:tc>
                <a:tc>
                  <a:txBody>
                    <a:bodyPr/>
                    <a:lstStyle/>
                    <a:p>
                      <a:pPr algn="ctr">
                        <a:buNone/>
                      </a:pPr>
                      <a:r>
                        <a:rPr lang="en-IN" altLang="en-US" dirty="0">
                          <a:latin typeface="Times New Roman" pitchFamily="18" charset="0"/>
                          <a:cs typeface="Times New Roman" pitchFamily="18" charset="0"/>
                        </a:rPr>
                        <a:t>Studied about</a:t>
                      </a:r>
                    </a:p>
                    <a:p>
                      <a:pPr algn="ctr">
                        <a:buNone/>
                      </a:pPr>
                      <a:r>
                        <a:rPr lang="en-US" altLang="en-US" dirty="0">
                          <a:latin typeface="Times New Roman" pitchFamily="18" charset="0"/>
                          <a:cs typeface="Times New Roman" pitchFamily="18" charset="0"/>
                        </a:rPr>
                        <a:t>VGG16</a:t>
                      </a:r>
                      <a:endParaRPr lang="en-IN" altLang="en-US" dirty="0">
                        <a:latin typeface="Times New Roman" pitchFamily="18" charset="0"/>
                        <a:cs typeface="Times New Roman" pitchFamily="18" charset="0"/>
                      </a:endParaRPr>
                    </a:p>
                  </a:txBody>
                  <a:tcPr>
                    <a:solidFill>
                      <a:schemeClr val="accent5">
                        <a:lumMod val="40000"/>
                        <a:lumOff val="60000"/>
                      </a:schemeClr>
                    </a:solidFill>
                  </a:tcPr>
                </a:tc>
                <a:extLst>
                  <a:ext uri="{0D108BD9-81ED-4DB2-BD59-A6C34878D82A}">
                    <a16:rowId xmlns:a16="http://schemas.microsoft.com/office/drawing/2014/main" val="10001"/>
                  </a:ext>
                </a:extLst>
              </a:tr>
              <a:tr h="933450">
                <a:tc>
                  <a:txBody>
                    <a:bodyPr/>
                    <a:lstStyle/>
                    <a:p>
                      <a:pPr>
                        <a:buNone/>
                      </a:pPr>
                      <a:r>
                        <a:rPr lang="en-IN" altLang="en-US" dirty="0">
                          <a:latin typeface="Times New Roman" pitchFamily="18" charset="0"/>
                          <a:cs typeface="Times New Roman" pitchFamily="18" charset="0"/>
                        </a:rPr>
                        <a:t>Coding </a:t>
                      </a:r>
                    </a:p>
                  </a:txBody>
                  <a:tcPr>
                    <a:solidFill>
                      <a:schemeClr val="accent1">
                        <a:lumMod val="40000"/>
                        <a:lumOff val="60000"/>
                      </a:schemeClr>
                    </a:solidFill>
                  </a:tcPr>
                </a:tc>
                <a:tc>
                  <a:txBody>
                    <a:bodyPr/>
                    <a:lstStyle/>
                    <a:p>
                      <a:pPr algn="ctr">
                        <a:buNone/>
                      </a:pPr>
                      <a:r>
                        <a:rPr lang="en-IN" altLang="en-US" dirty="0">
                          <a:latin typeface="Times New Roman" pitchFamily="18" charset="0"/>
                          <a:cs typeface="Times New Roman" pitchFamily="18" charset="0"/>
                        </a:rPr>
                        <a:t>Code to setup</a:t>
                      </a:r>
                    </a:p>
                    <a:p>
                      <a:pPr algn="ctr">
                        <a:buNone/>
                      </a:pPr>
                      <a:r>
                        <a:rPr lang="en-US" altLang="en-US" dirty="0">
                          <a:latin typeface="Times New Roman" pitchFamily="18" charset="0"/>
                          <a:cs typeface="Times New Roman" pitchFamily="18" charset="0"/>
                        </a:rPr>
                        <a:t>CNN</a:t>
                      </a:r>
                      <a:endParaRPr lang="en-IN" altLang="en-US" dirty="0">
                        <a:latin typeface="Times New Roman" pitchFamily="18" charset="0"/>
                        <a:cs typeface="Times New Roman" pitchFamily="18" charset="0"/>
                      </a:endParaRPr>
                    </a:p>
                  </a:txBody>
                  <a:tcPr/>
                </a:tc>
                <a:tc>
                  <a:txBody>
                    <a:bodyPr/>
                    <a:lstStyle/>
                    <a:p>
                      <a:pPr algn="ctr">
                        <a:buNone/>
                      </a:pPr>
                      <a:r>
                        <a:rPr lang="en-IN" altLang="en-US" dirty="0">
                          <a:latin typeface="Times New Roman" pitchFamily="18" charset="0"/>
                          <a:cs typeface="Times New Roman" pitchFamily="18" charset="0"/>
                        </a:rPr>
                        <a:t>Code to</a:t>
                      </a:r>
                      <a:r>
                        <a:rPr lang="en-IN" altLang="en-US" baseline="0" dirty="0">
                          <a:latin typeface="Times New Roman" pitchFamily="18" charset="0"/>
                          <a:cs typeface="Times New Roman" pitchFamily="18" charset="0"/>
                        </a:rPr>
                        <a:t> setup</a:t>
                      </a:r>
                      <a:endParaRPr lang="en-IN" altLang="en-US" dirty="0">
                        <a:latin typeface="Times New Roman" pitchFamily="18" charset="0"/>
                        <a:cs typeface="Times New Roman" pitchFamily="18" charset="0"/>
                      </a:endParaRPr>
                    </a:p>
                    <a:p>
                      <a:pPr algn="ctr">
                        <a:buNone/>
                      </a:pPr>
                      <a:r>
                        <a:rPr lang="en-US" altLang="en-US" dirty="0">
                          <a:latin typeface="Times New Roman" pitchFamily="18" charset="0"/>
                          <a:cs typeface="Times New Roman" pitchFamily="18" charset="0"/>
                        </a:rPr>
                        <a:t>Resnet</a:t>
                      </a:r>
                      <a:endParaRPr lang="en-IN" altLang="en-US" dirty="0">
                        <a:latin typeface="Times New Roman" pitchFamily="18" charset="0"/>
                        <a:cs typeface="Times New Roman" pitchFamily="18" charset="0"/>
                      </a:endParaRPr>
                    </a:p>
                  </a:txBody>
                  <a:tcPr/>
                </a:tc>
                <a:tc>
                  <a:txBody>
                    <a:bodyPr/>
                    <a:lstStyle/>
                    <a:p>
                      <a:pPr algn="ctr">
                        <a:buNone/>
                      </a:pPr>
                      <a:r>
                        <a:rPr lang="en-IN" altLang="en-US" dirty="0">
                          <a:latin typeface="Times New Roman" pitchFamily="18" charset="0"/>
                          <a:cs typeface="Times New Roman" pitchFamily="18" charset="0"/>
                        </a:rPr>
                        <a:t>Code for</a:t>
                      </a:r>
                      <a:r>
                        <a:rPr lang="en-IN" altLang="en-US" baseline="0" dirty="0">
                          <a:latin typeface="Times New Roman" pitchFamily="18" charset="0"/>
                          <a:cs typeface="Times New Roman" pitchFamily="18" charset="0"/>
                        </a:rPr>
                        <a:t> required packages</a:t>
                      </a:r>
                      <a:endParaRPr lang="en-IN" altLang="en-US" dirty="0">
                        <a:latin typeface="Times New Roman" pitchFamily="18" charset="0"/>
                        <a:cs typeface="Times New Roman" pitchFamily="18" charset="0"/>
                      </a:endParaRPr>
                    </a:p>
                  </a:txBody>
                  <a:tcPr/>
                </a:tc>
                <a:tc>
                  <a:txBody>
                    <a:bodyPr/>
                    <a:lstStyle/>
                    <a:p>
                      <a:pPr algn="ctr">
                        <a:buNone/>
                      </a:pPr>
                      <a:r>
                        <a:rPr lang="en-IN" altLang="en-US" dirty="0">
                          <a:latin typeface="Times New Roman" pitchFamily="18" charset="0"/>
                          <a:cs typeface="Times New Roman" pitchFamily="18" charset="0"/>
                        </a:rPr>
                        <a:t>Code to setup</a:t>
                      </a:r>
                    </a:p>
                    <a:p>
                      <a:pPr algn="ctr">
                        <a:buNone/>
                      </a:pPr>
                      <a:r>
                        <a:rPr lang="en-IN" altLang="en-US" baseline="0" dirty="0">
                          <a:latin typeface="Times New Roman" pitchFamily="18" charset="0"/>
                          <a:cs typeface="Times New Roman" pitchFamily="18" charset="0"/>
                        </a:rPr>
                        <a:t> VGG16</a:t>
                      </a:r>
                      <a:endParaRPr lang="en-IN" altLang="en-US"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932815">
                <a:tc>
                  <a:txBody>
                    <a:bodyPr/>
                    <a:lstStyle/>
                    <a:p>
                      <a:pPr>
                        <a:buNone/>
                      </a:pPr>
                      <a:r>
                        <a:rPr lang="en-IN" altLang="en-US" dirty="0">
                          <a:latin typeface="Times New Roman" pitchFamily="18" charset="0"/>
                          <a:cs typeface="Times New Roman" pitchFamily="18" charset="0"/>
                        </a:rPr>
                        <a:t>Results</a:t>
                      </a:r>
                    </a:p>
                  </a:txBody>
                  <a:tcPr>
                    <a:solidFill>
                      <a:schemeClr val="bg2">
                        <a:lumMod val="90000"/>
                      </a:schemeClr>
                    </a:solidFill>
                  </a:tcPr>
                </a:tc>
                <a:tc>
                  <a:txBody>
                    <a:bodyPr/>
                    <a:lstStyle/>
                    <a:p>
                      <a:pPr algn="ctr">
                        <a:buNone/>
                      </a:pPr>
                      <a:r>
                        <a:rPr lang="en-US" altLang="en-US" dirty="0">
                          <a:latin typeface="Times New Roman" pitchFamily="18" charset="0"/>
                          <a:cs typeface="Times New Roman" pitchFamily="18" charset="0"/>
                        </a:rPr>
                        <a:t>Performance</a:t>
                      </a:r>
                      <a:r>
                        <a:rPr lang="en-US" altLang="en-US" baseline="0" dirty="0">
                          <a:latin typeface="Times New Roman" pitchFamily="18" charset="0"/>
                          <a:cs typeface="Times New Roman" pitchFamily="18" charset="0"/>
                        </a:rPr>
                        <a:t> metrics are calculated</a:t>
                      </a:r>
                      <a:endParaRPr lang="en-IN" altLang="en-US" dirty="0">
                        <a:latin typeface="Times New Roman" pitchFamily="18" charset="0"/>
                        <a:cs typeface="Times New Roman" pitchFamily="18" charset="0"/>
                      </a:endParaRPr>
                    </a:p>
                  </a:txBody>
                  <a:tcPr/>
                </a:tc>
                <a:tc>
                  <a:txBody>
                    <a:bodyPr/>
                    <a:lstStyle/>
                    <a:p>
                      <a:pPr algn="ctr">
                        <a:buNone/>
                      </a:pPr>
                      <a:r>
                        <a:rPr lang="en-US" altLang="en-US" dirty="0">
                          <a:latin typeface="Times New Roman" pitchFamily="18" charset="0"/>
                          <a:cs typeface="Times New Roman" pitchFamily="18" charset="0"/>
                        </a:rPr>
                        <a:t>Performance</a:t>
                      </a:r>
                      <a:r>
                        <a:rPr lang="en-US" altLang="en-US" baseline="0" dirty="0">
                          <a:latin typeface="Times New Roman" pitchFamily="18" charset="0"/>
                          <a:cs typeface="Times New Roman" pitchFamily="18" charset="0"/>
                        </a:rPr>
                        <a:t> metrics are calculated</a:t>
                      </a:r>
                      <a:endParaRPr lang="en-IN" altLang="en-US" dirty="0">
                        <a:latin typeface="Times New Roman" pitchFamily="18" charset="0"/>
                        <a:cs typeface="Times New Roman" pitchFamily="18" charset="0"/>
                      </a:endParaRPr>
                    </a:p>
                  </a:txBody>
                  <a:tcPr/>
                </a:tc>
                <a:tc>
                  <a:txBody>
                    <a:bodyPr/>
                    <a:lstStyle/>
                    <a:p>
                      <a:pPr algn="ctr">
                        <a:buNone/>
                      </a:pPr>
                      <a:r>
                        <a:rPr lang="en-US" altLang="en-US" dirty="0">
                          <a:latin typeface="Times New Roman" pitchFamily="18" charset="0"/>
                          <a:cs typeface="Times New Roman" pitchFamily="18" charset="0"/>
                        </a:rPr>
                        <a:t>Currency notes are classified and detected.</a:t>
                      </a:r>
                      <a:endParaRPr lang="en-IN" altLang="en-US" dirty="0">
                        <a:latin typeface="Times New Roman" pitchFamily="18" charset="0"/>
                        <a:cs typeface="Times New Roman" pitchFamily="18" charset="0"/>
                      </a:endParaRPr>
                    </a:p>
                  </a:txBody>
                  <a:tcPr/>
                </a:tc>
                <a:tc>
                  <a:txBody>
                    <a:bodyPr/>
                    <a:lstStyle/>
                    <a:p>
                      <a:pPr algn="ctr">
                        <a:buNone/>
                      </a:pPr>
                      <a:r>
                        <a:rPr lang="en-US" altLang="en-US" dirty="0">
                          <a:latin typeface="Times New Roman" pitchFamily="18" charset="0"/>
                          <a:cs typeface="Times New Roman" pitchFamily="18" charset="0"/>
                        </a:rPr>
                        <a:t>Performance</a:t>
                      </a:r>
                      <a:r>
                        <a:rPr lang="en-US" altLang="en-US" baseline="0" dirty="0">
                          <a:latin typeface="Times New Roman" pitchFamily="18" charset="0"/>
                          <a:cs typeface="Times New Roman" pitchFamily="18" charset="0"/>
                        </a:rPr>
                        <a:t> metrics are calculated</a:t>
                      </a:r>
                      <a:endParaRPr lang="en-IN" altLang="en-US"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sp>
        <p:nvSpPr>
          <p:cNvPr id="5" name="Date Placeholder 4" hidden="1"/>
          <p:cNvSpPr>
            <a:spLocks noGrp="1"/>
          </p:cNvSpPr>
          <p:nvPr>
            <p:ph type="dt" sz="half" idx="10"/>
          </p:nvPr>
        </p:nvSpPr>
        <p:spPr/>
        <p:txBody>
          <a:bodyPr/>
          <a:lstStyle/>
          <a:p>
            <a:fld id="{E455046D-FD36-421D-B0B6-CF2E6F2F7E01}" type="datetime1">
              <a:rPr lang="en-IN" smtClean="0"/>
              <a:t>06-03-2024</a:t>
            </a:fld>
            <a:endParaRPr lang="en-IN" dirty="0"/>
          </a:p>
        </p:txBody>
      </p:sp>
      <p:sp>
        <p:nvSpPr>
          <p:cNvPr id="6" name="Slide Number Placeholder 5" hidden="1"/>
          <p:cNvSpPr>
            <a:spLocks noGrp="1"/>
          </p:cNvSpPr>
          <p:nvPr>
            <p:ph type="sldNum" sz="quarter" idx="12"/>
          </p:nvPr>
        </p:nvSpPr>
        <p:spPr/>
        <p:txBody>
          <a:bodyPr/>
          <a:lstStyle/>
          <a:p>
            <a:fld id="{A0183BA4-7B10-4BE3-A0B2-A48721054ED6}" type="slidenum">
              <a:rPr lang="en-IN" smtClean="0"/>
              <a:t>40</a:t>
            </a:fld>
            <a:endParaRPr lang="en-IN" dirty="0"/>
          </a:p>
        </p:txBody>
      </p:sp>
    </p:spTree>
    <p:extLst>
      <p:ext uri="{BB962C8B-B14F-4D97-AF65-F5344CB8AC3E}">
        <p14:creationId xmlns:p14="http://schemas.microsoft.com/office/powerpoint/2010/main" val="40338361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901"/>
            <a:ext cx="10515600" cy="952499"/>
          </a:xfrm>
        </p:spPr>
        <p:txBody>
          <a:bodyPr>
            <a:normAutofit/>
          </a:bodyPr>
          <a:lstStyle/>
          <a:p>
            <a:pPr algn="ctr"/>
            <a:r>
              <a:rPr lang="en-IN" sz="3600" b="1" dirty="0">
                <a:latin typeface="Times New Roman" pitchFamily="18" charset="0"/>
                <a:cs typeface="Times New Roman" pitchFamily="18" charset="0"/>
              </a:rPr>
              <a:t>REFERENCES</a:t>
            </a:r>
          </a:p>
        </p:txBody>
      </p:sp>
      <p:sp>
        <p:nvSpPr>
          <p:cNvPr id="3" name="Content Placeholder 2"/>
          <p:cNvSpPr>
            <a:spLocks noGrp="1"/>
          </p:cNvSpPr>
          <p:nvPr>
            <p:ph idx="1"/>
          </p:nvPr>
        </p:nvSpPr>
        <p:spPr>
          <a:xfrm>
            <a:off x="393700" y="1066800"/>
            <a:ext cx="11531600" cy="5588000"/>
          </a:xfrm>
        </p:spPr>
        <p:txBody>
          <a:bodyPr>
            <a:noAutofit/>
          </a:bodyPr>
          <a:lstStyle/>
          <a:p>
            <a:pPr marL="0" indent="0" algn="just">
              <a:buNone/>
            </a:pPr>
            <a:endParaRPr lang="en-IN" sz="2000" dirty="0">
              <a:latin typeface="Times New Roman" pitchFamily="18" charset="0"/>
              <a:cs typeface="Times New Roman" pitchFamily="18" charset="0"/>
            </a:endParaRPr>
          </a:p>
          <a:p>
            <a:pPr marL="0" indent="0" algn="just">
              <a:buNone/>
            </a:pPr>
            <a:endParaRPr lang="en-IN" sz="2000" dirty="0">
              <a:latin typeface="Times New Roman" pitchFamily="18" charset="0"/>
              <a:cs typeface="Times New Roman" pitchFamily="18" charset="0"/>
            </a:endParaRPr>
          </a:p>
        </p:txBody>
      </p:sp>
      <p:sp>
        <p:nvSpPr>
          <p:cNvPr id="4" name="Date Placeholder 3" hidden="1"/>
          <p:cNvSpPr>
            <a:spLocks noGrp="1"/>
          </p:cNvSpPr>
          <p:nvPr>
            <p:ph type="dt" sz="half" idx="10"/>
          </p:nvPr>
        </p:nvSpPr>
        <p:spPr/>
        <p:txBody>
          <a:bodyPr/>
          <a:lstStyle/>
          <a:p>
            <a:fld id="{784BDB05-E2D4-4D29-8882-DE25842599A2}"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41</a:t>
            </a:fld>
            <a:endParaRPr lang="en-IN" dirty="0"/>
          </a:p>
        </p:txBody>
      </p:sp>
      <p:sp>
        <p:nvSpPr>
          <p:cNvPr id="6" name="Rectangle 5"/>
          <p:cNvSpPr/>
          <p:nvPr/>
        </p:nvSpPr>
        <p:spPr>
          <a:xfrm>
            <a:off x="266700" y="924303"/>
            <a:ext cx="11607800" cy="5632311"/>
          </a:xfrm>
          <a:prstGeom prst="rect">
            <a:avLst/>
          </a:prstGeom>
        </p:spPr>
        <p:txBody>
          <a:bodyPr wrap="square">
            <a:spAutoFit/>
          </a:bodyPr>
          <a:lstStyle/>
          <a:p>
            <a:pPr lvl="0" algn="just"/>
            <a:r>
              <a:rPr lang="en-IN" dirty="0">
                <a:latin typeface="Times New Roman" pitchFamily="18" charset="0"/>
                <a:cs typeface="Times New Roman" pitchFamily="18" charset="0"/>
              </a:rPr>
              <a:t>[1]. Bhatia, V. Kedia, A. Shroff, M. Kumar, B. K. Shah and Aryan, "Fake Currency Detection with Machine Learning Algorithm  and Image Processing," 2021 5th International Conference on Intelligent Computing and Control Systems (ICICCS), 2021, pp. 755-760, doi: 10.1109/ICICCS51141.2021.9432274.</a:t>
            </a:r>
          </a:p>
          <a:p>
            <a:pPr lvl="0" algn="just"/>
            <a:r>
              <a:rPr lang="en-IN" dirty="0">
                <a:latin typeface="Times New Roman" pitchFamily="18" charset="0"/>
                <a:cs typeface="Times New Roman" pitchFamily="18" charset="0"/>
              </a:rPr>
              <a:t>[2]. M. Laavanya, V. Vijayaraghavan. “Real Time Fake Currency Note Detection using Deep Learning”, International Journal of Engineering and Advanced Technology (IJEAT) ISSN: 2249 – 8958, Volume-9 Issue-1S5, December 2019.</a:t>
            </a:r>
          </a:p>
          <a:p>
            <a:pPr lvl="0" algn="just"/>
            <a:r>
              <a:rPr lang="en-IN" dirty="0">
                <a:latin typeface="Times New Roman" pitchFamily="18" charset="0"/>
                <a:cs typeface="Times New Roman" pitchFamily="18" charset="0"/>
              </a:rPr>
              <a:t>[3]. A.Upadhyaya, V. Shokeen and G. Srivastava, "Analysis of Counterfeit Currency Detection Techniques for Classification Model," 2018 4th International Conference on Computing Communication and Automation (ICCCA), 2018, pp. 1-6, doi: 10.1109/CCAA.2018.8777704.</a:t>
            </a:r>
          </a:p>
          <a:p>
            <a:pPr lvl="0" algn="just"/>
            <a:r>
              <a:rPr lang="en-IN" dirty="0">
                <a:latin typeface="Times New Roman" pitchFamily="18" charset="0"/>
                <a:cs typeface="Times New Roman" pitchFamily="18" charset="0"/>
              </a:rPr>
              <a:t>[4]. Q. Zhang and W. Q. Yan, "Currency Detection and Recognition Based on Deep Learning," 2018 15th IEEE International Conference on Advanced Video and Signal Based Surveillance (AVSS), 2018, pp. 1-6, doi: 10.1109/AVSS.2018.8639124.</a:t>
            </a:r>
          </a:p>
          <a:p>
            <a:pPr lvl="0" algn="just"/>
            <a:r>
              <a:rPr lang="en-IN" dirty="0">
                <a:latin typeface="Times New Roman" pitchFamily="18" charset="0"/>
                <a:cs typeface="Times New Roman" pitchFamily="18" charset="0"/>
              </a:rPr>
              <a:t>[5]. M. Jadhav, Y. k. Sharma and G. M. Bhandari, "Currency Identification and Forged Banknote Detection using Deep Learning," 2019 International Conference on Innovative Trends and Advances in Engineering and Technology (ICITAET), 2019, pp. 178-183, doi: 10.1109/ICITAET47105.2019.9170225.</a:t>
            </a:r>
          </a:p>
          <a:p>
            <a:pPr lvl="0" algn="just"/>
            <a:r>
              <a:rPr lang="en-IN" dirty="0">
                <a:latin typeface="Times New Roman" pitchFamily="18" charset="0"/>
                <a:cs typeface="Times New Roman" pitchFamily="18" charset="0"/>
              </a:rPr>
              <a:t>[6]. A. Yadav, T. Jain, V. K. Verma and V. Pal, "Evaluation of Machine Learning Algorithms for the Detection of Fake Bank Currency," 2021 11th International Conference on Cloud Computing, Data Science &amp; Engineering (Confluence), 2021, pp. 810-815, doi: 10.1109/Confluence51648.2021.9377127.</a:t>
            </a:r>
          </a:p>
          <a:p>
            <a:pPr lvl="0" algn="just"/>
            <a:r>
              <a:rPr lang="en-US" dirty="0">
                <a:latin typeface="Times New Roman" pitchFamily="18" charset="0"/>
                <a:cs typeface="Times New Roman" pitchFamily="18" charset="0"/>
              </a:rPr>
              <a:t>[7]. C. Junli and J. Licheng “Classification Mechanism of Support Vector Machines”, In Proceedings of International Conference on Signal Processing (ICSP)2000.</a:t>
            </a:r>
          </a:p>
          <a:p>
            <a:pPr lvl="0" algn="just"/>
            <a:r>
              <a:rPr lang="en-US" dirty="0">
                <a:latin typeface="Times New Roman" pitchFamily="18" charset="0"/>
                <a:cs typeface="Times New Roman" pitchFamily="18" charset="0"/>
              </a:rPr>
              <a:t>[8]. S. Darade, ”Automatic Recognition of Fake Indian Currency Note”, In Proceedings of International Conference on Electrical     Power and Energy Systems (ICEPES) 2016. </a:t>
            </a:r>
          </a:p>
        </p:txBody>
      </p:sp>
    </p:spTree>
    <p:extLst>
      <p:ext uri="{BB962C8B-B14F-4D97-AF65-F5344CB8AC3E}">
        <p14:creationId xmlns:p14="http://schemas.microsoft.com/office/powerpoint/2010/main" val="15652496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827175"/>
            <a:ext cx="12192000" cy="1203649"/>
          </a:xfrm>
        </p:spPr>
        <p:txBody>
          <a:bodyPr>
            <a:normAutofit/>
          </a:bodyPr>
          <a:lstStyle/>
          <a:p>
            <a:pPr algn="ctr"/>
            <a:r>
              <a:rPr lang="en-IN" sz="4000" b="1" dirty="0">
                <a:latin typeface="Times New Roman" panose="02020603050405020304" pitchFamily="18" charset="0"/>
                <a:cs typeface="Times New Roman" panose="02020603050405020304" pitchFamily="18" charset="0"/>
              </a:rPr>
              <a:t>QUERIES ??</a:t>
            </a:r>
            <a:endParaRPr lang="en-IN" sz="4800" b="1" dirty="0">
              <a:latin typeface="Times New Roman" panose="02020603050405020304" pitchFamily="18" charset="0"/>
              <a:cs typeface="Times New Roman" panose="02020603050405020304" pitchFamily="18" charset="0"/>
            </a:endParaRPr>
          </a:p>
        </p:txBody>
      </p:sp>
      <p:sp>
        <p:nvSpPr>
          <p:cNvPr id="4" name="Date Placeholder 3" hidden="1"/>
          <p:cNvSpPr>
            <a:spLocks noGrp="1"/>
          </p:cNvSpPr>
          <p:nvPr>
            <p:ph type="dt" sz="half" idx="10"/>
          </p:nvPr>
        </p:nvSpPr>
        <p:spPr/>
        <p:txBody>
          <a:bodyPr/>
          <a:lstStyle/>
          <a:p>
            <a:fld id="{D121BCBC-AF21-480F-8C1A-83C58722766A}"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42</a:t>
            </a:fld>
            <a:endParaRPr lang="en-I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827175"/>
            <a:ext cx="12192000" cy="1203649"/>
          </a:xfrm>
        </p:spPr>
        <p:txBody>
          <a:bodyPr>
            <a:normAutofit/>
          </a:bodyPr>
          <a:lstStyle/>
          <a:p>
            <a:pPr algn="ctr"/>
            <a:r>
              <a:rPr lang="en-IN" b="1" dirty="0">
                <a:latin typeface="Times New Roman" panose="02020603050405020304" pitchFamily="18" charset="0"/>
                <a:cs typeface="Times New Roman" panose="02020603050405020304" pitchFamily="18" charset="0"/>
              </a:rPr>
              <a:t>THANK YOU</a:t>
            </a:r>
            <a:endParaRPr lang="en-IN" sz="5400" b="1" dirty="0">
              <a:latin typeface="Times New Roman" panose="02020603050405020304" pitchFamily="18" charset="0"/>
              <a:cs typeface="Times New Roman" panose="02020603050405020304" pitchFamily="18" charset="0"/>
            </a:endParaRPr>
          </a:p>
        </p:txBody>
      </p:sp>
      <p:sp>
        <p:nvSpPr>
          <p:cNvPr id="4" name="Date Placeholder 3" hidden="1"/>
          <p:cNvSpPr>
            <a:spLocks noGrp="1"/>
          </p:cNvSpPr>
          <p:nvPr>
            <p:ph type="dt" sz="half" idx="10"/>
          </p:nvPr>
        </p:nvSpPr>
        <p:spPr/>
        <p:txBody>
          <a:bodyPr/>
          <a:lstStyle/>
          <a:p>
            <a:fld id="{D121BCBC-AF21-480F-8C1A-83C58722766A}" type="datetime1">
              <a:rPr lang="en-IN" smtClean="0"/>
              <a:t>06-03-2024</a:t>
            </a:fld>
            <a:endParaRPr lang="en-IN" dirty="0"/>
          </a:p>
        </p:txBody>
      </p:sp>
      <p:sp>
        <p:nvSpPr>
          <p:cNvPr id="5" name="Slide Number Placeholder 4" hidden="1"/>
          <p:cNvSpPr>
            <a:spLocks noGrp="1"/>
          </p:cNvSpPr>
          <p:nvPr>
            <p:ph type="sldNum" sz="quarter" idx="12"/>
          </p:nvPr>
        </p:nvSpPr>
        <p:spPr/>
        <p:txBody>
          <a:bodyPr/>
          <a:lstStyle/>
          <a:p>
            <a:fld id="{A0183BA4-7B10-4BE3-A0B2-A48721054ED6}" type="slidenum">
              <a:rPr lang="en-IN" smtClean="0"/>
              <a:t>43</a:t>
            </a:fld>
            <a:endParaRPr lang="en-IN"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1087</TotalTime>
  <Words>5472</Words>
  <Application>Microsoft Office PowerPoint</Application>
  <PresentationFormat>Widescreen</PresentationFormat>
  <Paragraphs>527</Paragraphs>
  <Slides>43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Times New Roman</vt:lpstr>
      <vt:lpstr>Trebuchet MS</vt:lpstr>
      <vt:lpstr>Wingdings 3</vt:lpstr>
      <vt:lpstr>Facet</vt:lpstr>
      <vt:lpstr>PowerPoint Presentation</vt:lpstr>
      <vt:lpstr>OUTLINE </vt:lpstr>
      <vt:lpstr>ABSTRACT</vt:lpstr>
      <vt:lpstr>INTRODUCTION</vt:lpstr>
      <vt:lpstr>LITERATURE SURVEY</vt:lpstr>
      <vt:lpstr>EXISTING SYSTEM</vt:lpstr>
      <vt:lpstr>DETAILED DESIGN</vt:lpstr>
      <vt:lpstr>PREPROCESSING</vt:lpstr>
      <vt:lpstr>CONVOLUTION LAYER</vt:lpstr>
      <vt:lpstr>RELU ACTIVATION</vt:lpstr>
      <vt:lpstr>MAXPOOLING LAYER</vt:lpstr>
      <vt:lpstr>FULLY CONNECTED AND DENSE LAYER</vt:lpstr>
      <vt:lpstr>SOFTMAX CLASSIFIER</vt:lpstr>
      <vt:lpstr>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OBTAINED</vt:lpstr>
      <vt:lpstr>RESULTS OBTAINED</vt:lpstr>
      <vt:lpstr>PERFORMANCE EVALUATION</vt:lpstr>
      <vt:lpstr>CONCLUSION</vt:lpstr>
      <vt:lpstr>FUTURE SCOPE</vt:lpstr>
      <vt:lpstr>   CONTRIBUTION</vt:lpstr>
      <vt:lpstr>REFERENCES</vt:lpstr>
      <vt:lpstr>QUERIES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Pravallika Reddy</dc:creator>
  <cp:lastModifiedBy>Srivastav Ammula</cp:lastModifiedBy>
  <cp:revision>296</cp:revision>
  <dcterms:created xsi:type="dcterms:W3CDTF">2021-05-18T14:01:00Z</dcterms:created>
  <dcterms:modified xsi:type="dcterms:W3CDTF">2024-03-06T09:18:55Z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ECECF2958F344E01AD6B190DD06E554C</vt:lpwstr>
  </property>
  <property fmtid="{D5CDD505-2E9C-101B-9397-08002B2CF9AE}" pid="3" name="KSOProductBuildVer">
    <vt:lpwstr>1033-11.2.0.11210</vt:lpwstr>
  </property>
</Properties>
</file>